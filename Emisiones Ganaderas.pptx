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678861" y="-2326440"/>
            <a:ext cx="6400803" cy="6400802"/>
          </a:xfrm>
          <a:prstGeom prst="ellipse">
            <a:avLst/>
          </a:prstGeom>
          <a:solidFill>
            <a:srgbClr val="16281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9692640" y="-1280162"/>
            <a:ext cx="4754883" cy="4754884"/>
          </a:xfrm>
          <a:prstGeom prst="ellipse">
            <a:avLst/>
          </a:prstGeom>
          <a:ln w="19050">
            <a:solidFill>
              <a:srgbClr val="2E544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0515600" y="-457200"/>
            <a:ext cx="3108962" cy="3108962"/>
          </a:xfrm>
          <a:prstGeom prst="ellipse">
            <a:avLst/>
          </a:prstGeom>
          <a:ln w="19050">
            <a:solidFill>
              <a:srgbClr val="2E544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3"/>
          <p:cNvSpPr/>
          <p:nvPr/>
        </p:nvSpPr>
        <p:spPr>
          <a:xfrm>
            <a:off x="1481327" y="621791"/>
            <a:ext cx="4846323" cy="310898"/>
          </a:xfrm>
          <a:prstGeom prst="roundRect">
            <a:avLst>
              <a:gd name="adj" fmla="val 23529"/>
            </a:avLst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Text 4"/>
          <p:cNvSpPr txBox="1"/>
          <p:nvPr/>
        </p:nvSpPr>
        <p:spPr>
          <a:xfrm>
            <a:off x="1527047" y="662985"/>
            <a:ext cx="475488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TRABAJO FINAL · CURSO DE ANÁLISIS DE DATOS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640079" y="1517650"/>
            <a:ext cx="8686801" cy="71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Proyecto: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667512" y="2204328"/>
            <a:ext cx="8503920" cy="437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600">
                <a:solidFill>
                  <a:srgbClr val="CFE0D4"/>
                </a:solidFill>
              </a:defRPr>
            </a:lvl1pPr>
          </a:lstStyle>
          <a:p>
            <a:pPr/>
            <a:r>
              <a:t>Emisiones del sector ganadero mundial (1961–2023)</a:t>
            </a:r>
          </a:p>
        </p:txBody>
      </p:sp>
      <p:sp>
        <p:nvSpPr>
          <p:cNvPr id="28" name="Shape 7"/>
          <p:cNvSpPr/>
          <p:nvPr/>
        </p:nvSpPr>
        <p:spPr>
          <a:xfrm>
            <a:off x="594359" y="2816350"/>
            <a:ext cx="7223761" cy="1965962"/>
          </a:xfrm>
          <a:prstGeom prst="roundRect">
            <a:avLst>
              <a:gd name="adj" fmla="val 3721"/>
            </a:avLst>
          </a:prstGeom>
          <a:solidFill>
            <a:srgbClr val="16281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" name="Text 8"/>
          <p:cNvSpPr txBox="1"/>
          <p:nvPr/>
        </p:nvSpPr>
        <p:spPr>
          <a:xfrm>
            <a:off x="827531" y="3038577"/>
            <a:ext cx="6629401" cy="185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6000"/>
              </a:lnSpc>
              <a:defRPr b="1" sz="1300">
                <a:solidFill>
                  <a:srgbClr val="E8A79B"/>
                </a:solidFill>
              </a:defRPr>
            </a:pPr>
            <a:r>
              <a:t>¿Por qué este tema?  </a:t>
            </a:r>
            <a:r>
              <a:rPr b="0" i="1">
                <a:solidFill>
                  <a:srgbClr val="E7E2D6"/>
                </a:solidFill>
              </a:rPr>
              <a:t>Creo que mucha gente no es consciente del impacto del sector ganadero en las emisiones de CO2 y de que, por tanto, haciendo pequeños cambios de alimentación, como reducir la ingesta de carne, podemos ayudar, aunque sea un poco, a este planeta del que no somos más que inquilinos: lo compartimos con miles de especies y solemos olvidarlo.</a:t>
            </a:r>
          </a:p>
          <a:p>
            <a:pPr>
              <a:lnSpc>
                <a:spcPct val="116000"/>
              </a:lnSpc>
              <a:defRPr i="1" sz="1200">
                <a:solidFill>
                  <a:srgbClr val="E7E2D6"/>
                </a:solidFill>
              </a:defRPr>
            </a:pPr>
          </a:p>
          <a:p>
            <a:pPr>
              <a:lnSpc>
                <a:spcPct val="116000"/>
              </a:lnSpc>
              <a:defRPr b="1" i="1" sz="1300">
                <a:solidFill>
                  <a:srgbClr val="E7E2D6"/>
                </a:solidFill>
              </a:defRPr>
            </a:pPr>
            <a:r>
              <a:t>Según la FAO, la ganadería es responsable de entre 12% - 14,5% de gases de efecto invernadero.</a:t>
            </a:r>
          </a:p>
        </p:txBody>
      </p:sp>
      <p:sp>
        <p:nvSpPr>
          <p:cNvPr id="30" name="Text 9"/>
          <p:cNvSpPr txBox="1"/>
          <p:nvPr/>
        </p:nvSpPr>
        <p:spPr>
          <a:xfrm>
            <a:off x="667511" y="4954962"/>
            <a:ext cx="694944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CFE0D4"/>
                </a:solidFill>
              </a:defRPr>
            </a:pPr>
            <a:r>
              <a:t>Fuente de datos:  </a:t>
            </a:r>
            <a:r>
              <a:rPr b="0">
                <a:solidFill>
                  <a:srgbClr val="9FB6A8"/>
                </a:solidFill>
              </a:rPr>
              <a:t>FAOSTAT — Emisiones derivadas del sector ganadero (FAO)</a:t>
            </a:r>
          </a:p>
        </p:txBody>
      </p:sp>
      <p:sp>
        <p:nvSpPr>
          <p:cNvPr id="31" name="Text 10"/>
          <p:cNvSpPr txBox="1"/>
          <p:nvPr/>
        </p:nvSpPr>
        <p:spPr>
          <a:xfrm>
            <a:off x="667511" y="5225840"/>
            <a:ext cx="69494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000">
                <a:solidFill>
                  <a:srgbClr val="6E8578"/>
                </a:solidFill>
              </a:defRPr>
            </a:lvl1pPr>
          </a:lstStyle>
          <a:p>
            <a:pPr/>
            <a:r>
              <a:t>fao.org/faostat/es/#data/GLE</a:t>
            </a:r>
          </a:p>
        </p:txBody>
      </p:sp>
      <p:sp>
        <p:nvSpPr>
          <p:cNvPr id="32" name="Text 11"/>
          <p:cNvSpPr txBox="1"/>
          <p:nvPr/>
        </p:nvSpPr>
        <p:spPr>
          <a:xfrm>
            <a:off x="667511" y="5628640"/>
            <a:ext cx="2194562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400">
                <a:solidFill>
                  <a:srgbClr val="D98C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" name="Text 12"/>
          <p:cNvSpPr txBox="1"/>
          <p:nvPr/>
        </p:nvSpPr>
        <p:spPr>
          <a:xfrm>
            <a:off x="667511" y="6080760"/>
            <a:ext cx="2194562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9FB6A8"/>
                </a:solidFill>
              </a:defRPr>
            </a:pPr>
            <a:r>
              <a:t>ficheros CSV</a:t>
            </a:r>
          </a:p>
          <a:p>
            <a:pPr>
              <a:defRPr sz="1000">
                <a:solidFill>
                  <a:srgbClr val="9FB6A8"/>
                </a:solidFill>
              </a:defRPr>
            </a:pPr>
            <a:r>
              <a:t>(por continente)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3090672" y="5628640"/>
            <a:ext cx="2194562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400">
                <a:solidFill>
                  <a:srgbClr val="D98C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77.491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3090672" y="6080760"/>
            <a:ext cx="21945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9FB6A8"/>
                </a:solidFill>
              </a:defRPr>
            </a:lvl1pPr>
          </a:lstStyle>
          <a:p>
            <a:pPr/>
            <a:r>
              <a:t>registros combinados</a:t>
            </a:r>
          </a:p>
        </p:txBody>
      </p:sp>
      <p:sp>
        <p:nvSpPr>
          <p:cNvPr id="36" name="Text 15"/>
          <p:cNvSpPr txBox="1"/>
          <p:nvPr/>
        </p:nvSpPr>
        <p:spPr>
          <a:xfrm>
            <a:off x="5513832" y="5628640"/>
            <a:ext cx="2194562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400">
                <a:solidFill>
                  <a:srgbClr val="D98C3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1961–2023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5513832" y="6080760"/>
            <a:ext cx="21945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9FB6A8"/>
                </a:solidFill>
              </a:defRPr>
            </a:lvl1pPr>
          </a:lstStyle>
          <a:p>
            <a:pPr/>
            <a:r>
              <a:t>63 años de histórico</a:t>
            </a:r>
          </a:p>
        </p:txBody>
      </p:sp>
      <p:sp>
        <p:nvSpPr>
          <p:cNvPr id="38" name="Shape 17"/>
          <p:cNvSpPr/>
          <p:nvPr/>
        </p:nvSpPr>
        <p:spPr>
          <a:xfrm>
            <a:off x="8275318" y="2468878"/>
            <a:ext cx="3246122" cy="3703322"/>
          </a:xfrm>
          <a:prstGeom prst="roundRect">
            <a:avLst>
              <a:gd name="adj" fmla="val 2817"/>
            </a:avLst>
          </a:prstGeom>
          <a:solidFill>
            <a:srgbClr val="17291F"/>
          </a:solidFill>
          <a:ln w="12700">
            <a:solidFill>
              <a:srgbClr val="2E544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Text 18"/>
          <p:cNvSpPr txBox="1"/>
          <p:nvPr/>
        </p:nvSpPr>
        <p:spPr>
          <a:xfrm>
            <a:off x="8549639" y="2676066"/>
            <a:ext cx="27432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00" sz="1100">
                <a:solidFill>
                  <a:srgbClr val="B5443A"/>
                </a:solidFill>
              </a:defRPr>
            </a:lvl1pPr>
          </a:lstStyle>
          <a:p>
            <a:pPr/>
            <a:r>
              <a:t>EL PIPELINE</a:t>
            </a:r>
          </a:p>
        </p:txBody>
      </p:sp>
      <p:sp>
        <p:nvSpPr>
          <p:cNvPr id="40" name="Shape 19"/>
          <p:cNvSpPr/>
          <p:nvPr/>
        </p:nvSpPr>
        <p:spPr>
          <a:xfrm>
            <a:off x="8503918" y="3063238"/>
            <a:ext cx="365763" cy="365763"/>
          </a:xfrm>
          <a:prstGeom prst="ellipse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" name="Text 20"/>
          <p:cNvSpPr txBox="1"/>
          <p:nvPr/>
        </p:nvSpPr>
        <p:spPr>
          <a:xfrm>
            <a:off x="8549639" y="3121967"/>
            <a:ext cx="2743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" name="Text 21"/>
          <p:cNvSpPr txBox="1"/>
          <p:nvPr/>
        </p:nvSpPr>
        <p:spPr>
          <a:xfrm>
            <a:off x="9052559" y="3117020"/>
            <a:ext cx="228600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pPr/>
            <a:r>
              <a:t>Recoger</a:t>
            </a:r>
          </a:p>
        </p:txBody>
      </p:sp>
      <p:sp>
        <p:nvSpPr>
          <p:cNvPr id="43" name="Shape 22"/>
          <p:cNvSpPr/>
          <p:nvPr/>
        </p:nvSpPr>
        <p:spPr>
          <a:xfrm>
            <a:off x="8686799" y="3447287"/>
            <a:ext cx="2" cy="301754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" name="Shape 23"/>
          <p:cNvSpPr/>
          <p:nvPr/>
        </p:nvSpPr>
        <p:spPr>
          <a:xfrm>
            <a:off x="8503918" y="3749040"/>
            <a:ext cx="365763" cy="365763"/>
          </a:xfrm>
          <a:prstGeom prst="ellipse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Text 24"/>
          <p:cNvSpPr txBox="1"/>
          <p:nvPr/>
        </p:nvSpPr>
        <p:spPr>
          <a:xfrm>
            <a:off x="8549639" y="3807768"/>
            <a:ext cx="2743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" name="Text 25"/>
          <p:cNvSpPr txBox="1"/>
          <p:nvPr/>
        </p:nvSpPr>
        <p:spPr>
          <a:xfrm>
            <a:off x="9052559" y="3802820"/>
            <a:ext cx="228600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pPr/>
            <a:r>
              <a:t>Almacenar</a:t>
            </a:r>
          </a:p>
        </p:txBody>
      </p:sp>
      <p:sp>
        <p:nvSpPr>
          <p:cNvPr id="47" name="Shape 26"/>
          <p:cNvSpPr/>
          <p:nvPr/>
        </p:nvSpPr>
        <p:spPr>
          <a:xfrm>
            <a:off x="8686799" y="4133087"/>
            <a:ext cx="2" cy="301754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" name="Shape 27"/>
          <p:cNvSpPr/>
          <p:nvPr/>
        </p:nvSpPr>
        <p:spPr>
          <a:xfrm>
            <a:off x="8503918" y="4434840"/>
            <a:ext cx="365763" cy="365763"/>
          </a:xfrm>
          <a:prstGeom prst="ellipse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Text 28"/>
          <p:cNvSpPr txBox="1"/>
          <p:nvPr/>
        </p:nvSpPr>
        <p:spPr>
          <a:xfrm>
            <a:off x="8549639" y="4493568"/>
            <a:ext cx="2743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0" name="Text 29"/>
          <p:cNvSpPr txBox="1"/>
          <p:nvPr/>
        </p:nvSpPr>
        <p:spPr>
          <a:xfrm>
            <a:off x="9052559" y="4488620"/>
            <a:ext cx="228600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pPr/>
            <a:r>
              <a:t>Procesar</a:t>
            </a:r>
          </a:p>
        </p:txBody>
      </p:sp>
      <p:sp>
        <p:nvSpPr>
          <p:cNvPr id="51" name="Shape 30"/>
          <p:cNvSpPr/>
          <p:nvPr/>
        </p:nvSpPr>
        <p:spPr>
          <a:xfrm>
            <a:off x="8686799" y="4818887"/>
            <a:ext cx="2" cy="301754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" name="Shape 31"/>
          <p:cNvSpPr/>
          <p:nvPr/>
        </p:nvSpPr>
        <p:spPr>
          <a:xfrm>
            <a:off x="8503918" y="5120640"/>
            <a:ext cx="365763" cy="365763"/>
          </a:xfrm>
          <a:prstGeom prst="ellipse">
            <a:avLst/>
          </a:prstGeom>
          <a:solidFill>
            <a:srgbClr val="3A6B8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" name="Text 32"/>
          <p:cNvSpPr txBox="1"/>
          <p:nvPr/>
        </p:nvSpPr>
        <p:spPr>
          <a:xfrm>
            <a:off x="8549639" y="5179368"/>
            <a:ext cx="2743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4" name="Text 33"/>
          <p:cNvSpPr txBox="1"/>
          <p:nvPr/>
        </p:nvSpPr>
        <p:spPr>
          <a:xfrm>
            <a:off x="9052559" y="5174420"/>
            <a:ext cx="228600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pPr/>
            <a:r>
              <a:t>Visualizar</a:t>
            </a:r>
          </a:p>
        </p:txBody>
      </p:sp>
      <p:sp>
        <p:nvSpPr>
          <p:cNvPr id="55" name="Shape 34"/>
          <p:cNvSpPr/>
          <p:nvPr/>
        </p:nvSpPr>
        <p:spPr>
          <a:xfrm>
            <a:off x="8686799" y="5504687"/>
            <a:ext cx="2" cy="301754"/>
          </a:xfrm>
          <a:prstGeom prst="line">
            <a:avLst/>
          </a:prstGeom>
          <a:ln w="15875">
            <a:solidFill>
              <a:srgbClr val="2E5443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Shape 35"/>
          <p:cNvSpPr/>
          <p:nvPr/>
        </p:nvSpPr>
        <p:spPr>
          <a:xfrm>
            <a:off x="8503918" y="5806440"/>
            <a:ext cx="365763" cy="365763"/>
          </a:xfrm>
          <a:prstGeom prst="ellipse">
            <a:avLst/>
          </a:prstGeom>
          <a:solidFill>
            <a:srgbClr val="8A6B9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" name="Text 36"/>
          <p:cNvSpPr txBox="1"/>
          <p:nvPr/>
        </p:nvSpPr>
        <p:spPr>
          <a:xfrm>
            <a:off x="8549639" y="5865168"/>
            <a:ext cx="2743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" name="Text 37"/>
          <p:cNvSpPr txBox="1"/>
          <p:nvPr/>
        </p:nvSpPr>
        <p:spPr>
          <a:xfrm>
            <a:off x="9052559" y="5860220"/>
            <a:ext cx="228600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FEAE0"/>
                </a:solidFill>
              </a:defRPr>
            </a:lvl1pPr>
          </a:lstStyle>
          <a:p>
            <a:pPr/>
            <a:r>
              <a:t>Automatizar</a:t>
            </a:r>
          </a:p>
        </p:txBody>
      </p:sp>
      <p:pic>
        <p:nvPicPr>
          <p:cNvPr id="59" name="filters-quality(70).jpeg" descr="filters-quality(70)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67971" y="132348"/>
            <a:ext cx="3128012" cy="21270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640080" y="457200"/>
            <a:ext cx="3291841" cy="310896"/>
          </a:xfrm>
          <a:prstGeom prst="roundRect">
            <a:avLst>
              <a:gd name="adj" fmla="val 23529"/>
            </a:avLst>
          </a:prstGeom>
          <a:solidFill>
            <a:srgbClr val="4F8C5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" name="Text 1"/>
          <p:cNvSpPr txBox="1"/>
          <p:nvPr/>
        </p:nvSpPr>
        <p:spPr>
          <a:xfrm>
            <a:off x="685798" y="498393"/>
            <a:ext cx="3200404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2 · PYTHON + PANDAS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667511" y="868679"/>
            <a:ext cx="905256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Carga y limpieza de datos</a:t>
            </a:r>
          </a:p>
        </p:txBody>
      </p:sp>
      <p:sp>
        <p:nvSpPr>
          <p:cNvPr id="64" name="Text 3"/>
          <p:cNvSpPr txBox="1"/>
          <p:nvPr/>
        </p:nvSpPr>
        <p:spPr>
          <a:xfrm>
            <a:off x="667511" y="1425380"/>
            <a:ext cx="90525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pPr/>
            <a:r>
              <a:t>De 5 CSV independientes a un único dataset limpio y normalizado</a:t>
            </a:r>
          </a:p>
        </p:txBody>
      </p:sp>
      <p:sp>
        <p:nvSpPr>
          <p:cNvPr id="65" name="Shape 4"/>
          <p:cNvSpPr/>
          <p:nvPr/>
        </p:nvSpPr>
        <p:spPr>
          <a:xfrm>
            <a:off x="621791" y="1965960"/>
            <a:ext cx="5074923" cy="8412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sx="100000" sy="100000" kx="0" ky="0" algn="b" rotWithShape="0" blurRad="76200" dist="25400" dir="54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" name="Shape 5"/>
          <p:cNvSpPr/>
          <p:nvPr/>
        </p:nvSpPr>
        <p:spPr>
          <a:xfrm>
            <a:off x="621791" y="1965960"/>
            <a:ext cx="82298" cy="841250"/>
          </a:xfrm>
          <a:prstGeom prst="rect">
            <a:avLst/>
          </a:prstGeom>
          <a:solidFill>
            <a:srgbClr val="3A6B8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" name="Text 6"/>
          <p:cNvSpPr txBox="1"/>
          <p:nvPr/>
        </p:nvSpPr>
        <p:spPr>
          <a:xfrm>
            <a:off x="914398" y="2058733"/>
            <a:ext cx="45720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2302A"/>
                </a:solidFill>
              </a:defRPr>
            </a:lvl1pPr>
          </a:lstStyle>
          <a:p>
            <a:pPr/>
            <a:r>
              <a:t>5 CSV</a:t>
            </a:r>
          </a:p>
        </p:txBody>
      </p:sp>
      <p:sp>
        <p:nvSpPr>
          <p:cNvPr id="68" name="Text 7"/>
          <p:cNvSpPr txBox="1"/>
          <p:nvPr/>
        </p:nvSpPr>
        <p:spPr>
          <a:xfrm>
            <a:off x="891539" y="2434583"/>
            <a:ext cx="461772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pPr/>
            <a:r>
              <a:t>Europa · África · Asia · América · Oceanía</a:t>
            </a:r>
          </a:p>
        </p:txBody>
      </p:sp>
      <p:sp>
        <p:nvSpPr>
          <p:cNvPr id="69" name="Text 8"/>
          <p:cNvSpPr txBox="1"/>
          <p:nvPr/>
        </p:nvSpPr>
        <p:spPr>
          <a:xfrm>
            <a:off x="2971800" y="2777938"/>
            <a:ext cx="365761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70" name="Shape 9"/>
          <p:cNvSpPr/>
          <p:nvPr/>
        </p:nvSpPr>
        <p:spPr>
          <a:xfrm>
            <a:off x="621791" y="3063238"/>
            <a:ext cx="5074923" cy="84125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sx="100000" sy="100000" kx="0" ky="0" algn="b" rotWithShape="0" blurRad="76200" dist="25400" dir="54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" name="Shape 10"/>
          <p:cNvSpPr/>
          <p:nvPr/>
        </p:nvSpPr>
        <p:spPr>
          <a:xfrm>
            <a:off x="621791" y="3063238"/>
            <a:ext cx="82298" cy="841251"/>
          </a:xfrm>
          <a:prstGeom prst="rect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" name="Text 11"/>
          <p:cNvSpPr txBox="1"/>
          <p:nvPr/>
        </p:nvSpPr>
        <p:spPr>
          <a:xfrm>
            <a:off x="914398" y="3156012"/>
            <a:ext cx="45720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2302A"/>
                </a:solidFill>
              </a:defRPr>
            </a:lvl1pPr>
          </a:lstStyle>
          <a:p>
            <a:pPr/>
            <a:r>
              <a:t>carga_datos.py</a:t>
            </a:r>
          </a:p>
        </p:txBody>
      </p:sp>
      <p:sp>
        <p:nvSpPr>
          <p:cNvPr id="73" name="Text 12"/>
          <p:cNvSpPr txBox="1"/>
          <p:nvPr/>
        </p:nvSpPr>
        <p:spPr>
          <a:xfrm>
            <a:off x="914400" y="3542592"/>
            <a:ext cx="461772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pPr/>
            <a:r>
              <a:t>lee cada CSV y los concatena en un único DataFrame</a:t>
            </a:r>
          </a:p>
        </p:txBody>
      </p:sp>
      <p:sp>
        <p:nvSpPr>
          <p:cNvPr id="74" name="Text 13"/>
          <p:cNvSpPr txBox="1"/>
          <p:nvPr/>
        </p:nvSpPr>
        <p:spPr>
          <a:xfrm>
            <a:off x="2971800" y="3875217"/>
            <a:ext cx="36576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75" name="Shape 14"/>
          <p:cNvSpPr/>
          <p:nvPr/>
        </p:nvSpPr>
        <p:spPr>
          <a:xfrm>
            <a:off x="621791" y="4160520"/>
            <a:ext cx="5074923" cy="8412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sx="100000" sy="100000" kx="0" ky="0" algn="b" rotWithShape="0" blurRad="76200" dist="25400" dir="54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" name="Shape 15"/>
          <p:cNvSpPr/>
          <p:nvPr/>
        </p:nvSpPr>
        <p:spPr>
          <a:xfrm>
            <a:off x="621791" y="4160520"/>
            <a:ext cx="82298" cy="841250"/>
          </a:xfrm>
          <a:prstGeom prst="rect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" name="Text 16"/>
          <p:cNvSpPr txBox="1"/>
          <p:nvPr/>
        </p:nvSpPr>
        <p:spPr>
          <a:xfrm>
            <a:off x="914398" y="4253292"/>
            <a:ext cx="45720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2302A"/>
                </a:solidFill>
              </a:defRPr>
            </a:lvl1pPr>
          </a:lstStyle>
          <a:p>
            <a:pPr/>
            <a:r>
              <a:t>limpieza_datos.py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914400" y="4639872"/>
            <a:ext cx="461772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pPr/>
            <a:r>
              <a:t>eliminar_columnas() + normalizar_columnas()</a:t>
            </a:r>
          </a:p>
        </p:txBody>
      </p:sp>
      <p:sp>
        <p:nvSpPr>
          <p:cNvPr id="79" name="Text 18"/>
          <p:cNvSpPr txBox="1"/>
          <p:nvPr/>
        </p:nvSpPr>
        <p:spPr>
          <a:xfrm>
            <a:off x="2971800" y="4972497"/>
            <a:ext cx="36576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80" name="Shape 19"/>
          <p:cNvSpPr/>
          <p:nvPr/>
        </p:nvSpPr>
        <p:spPr>
          <a:xfrm>
            <a:off x="621791" y="5257800"/>
            <a:ext cx="5074923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sx="100000" sy="100000" kx="0" ky="0" algn="b" rotWithShape="0" blurRad="76200" dist="25400" dir="54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Shape 20"/>
          <p:cNvSpPr/>
          <p:nvPr/>
        </p:nvSpPr>
        <p:spPr>
          <a:xfrm>
            <a:off x="621791" y="5257800"/>
            <a:ext cx="82298" cy="841248"/>
          </a:xfrm>
          <a:prstGeom prst="rect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" name="Text 21"/>
          <p:cNvSpPr txBox="1"/>
          <p:nvPr/>
        </p:nvSpPr>
        <p:spPr>
          <a:xfrm>
            <a:off x="914398" y="5350572"/>
            <a:ext cx="45720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2302A"/>
                </a:solidFill>
              </a:defRPr>
            </a:lvl1pPr>
          </a:lstStyle>
          <a:p>
            <a:pPr/>
            <a:r>
              <a:t>continentes.csv</a:t>
            </a:r>
          </a:p>
        </p:txBody>
      </p:sp>
      <p:sp>
        <p:nvSpPr>
          <p:cNvPr id="83" name="Text 22"/>
          <p:cNvSpPr txBox="1"/>
          <p:nvPr/>
        </p:nvSpPr>
        <p:spPr>
          <a:xfrm>
            <a:off x="914400" y="5737151"/>
            <a:ext cx="461772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pPr/>
            <a:r>
              <a:t>dataset limpio, listo para MySQL</a:t>
            </a:r>
          </a:p>
        </p:txBody>
      </p:sp>
      <p:sp>
        <p:nvSpPr>
          <p:cNvPr id="84" name="Text 23"/>
          <p:cNvSpPr txBox="1"/>
          <p:nvPr/>
        </p:nvSpPr>
        <p:spPr>
          <a:xfrm>
            <a:off x="640079" y="6176449"/>
            <a:ext cx="5029203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200">
                <a:solidFill>
                  <a:srgbClr val="5B6B62"/>
                </a:solidFill>
              </a:defRPr>
            </a:lvl1pPr>
          </a:lstStyle>
          <a:p>
            <a:pPr/>
            <a:r>
              <a:t>main.py orquesta todo el flujo: importa lib.carga_datos y lib.limpieza_datos, exporta continentes.csv y llama a la inserción en MySQL.</a:t>
            </a:r>
          </a:p>
        </p:txBody>
      </p:sp>
      <p:sp>
        <p:nvSpPr>
          <p:cNvPr id="85" name="Text 24"/>
          <p:cNvSpPr txBox="1"/>
          <p:nvPr/>
        </p:nvSpPr>
        <p:spPr>
          <a:xfrm>
            <a:off x="6149340" y="1968452"/>
            <a:ext cx="53949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17" sz="1300">
                <a:solidFill>
                  <a:srgbClr val="B5443A"/>
                </a:solidFill>
              </a:defRPr>
            </a:lvl1pPr>
          </a:lstStyle>
          <a:p>
            <a:pPr/>
            <a:r>
              <a:t>ANTES → DESPUÉS DE LA LIMPIEZA</a:t>
            </a:r>
          </a:p>
        </p:txBody>
      </p:sp>
      <p:sp>
        <p:nvSpPr>
          <p:cNvPr id="86" name="Shape 25"/>
          <p:cNvSpPr/>
          <p:nvPr/>
        </p:nvSpPr>
        <p:spPr>
          <a:xfrm>
            <a:off x="6080759" y="2331720"/>
            <a:ext cx="5486402" cy="1783080"/>
          </a:xfrm>
          <a:prstGeom prst="roundRect">
            <a:avLst>
              <a:gd name="adj" fmla="val 4103"/>
            </a:avLst>
          </a:prstGeom>
          <a:solidFill>
            <a:srgbClr val="FFF7F1"/>
          </a:solidFill>
          <a:ln w="12700">
            <a:solidFill>
              <a:srgbClr val="EAD9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" name="Text 26"/>
          <p:cNvSpPr txBox="1"/>
          <p:nvPr/>
        </p:nvSpPr>
        <p:spPr>
          <a:xfrm>
            <a:off x="6355079" y="2429634"/>
            <a:ext cx="493776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B5443A"/>
                </a:solidFill>
              </a:defRPr>
            </a:lvl1pPr>
          </a:lstStyle>
          <a:p>
            <a:pPr/>
            <a:r>
              <a:t>CSV en bruto (17 columnas)</a:t>
            </a:r>
          </a:p>
        </p:txBody>
      </p:sp>
      <p:sp>
        <p:nvSpPr>
          <p:cNvPr id="88" name="Text 27"/>
          <p:cNvSpPr txBox="1"/>
          <p:nvPr/>
        </p:nvSpPr>
        <p:spPr>
          <a:xfrm>
            <a:off x="6355079" y="2737231"/>
            <a:ext cx="4937762" cy="676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6B4A3E"/>
                </a:solidFill>
              </a:defRPr>
            </a:lvl1pPr>
          </a:lstStyle>
          <a:p>
            <a:pPr/>
            <a:r>
              <a:t>Código del ámbito, Ámbito, Código del área, Área, Código del elemento, Elemento, Código del producto, Producto, Código del año, Año, Código fuente, Fuente, Unidad, Valor, Símbolo, Descripción, Nota</a:t>
            </a:r>
          </a:p>
        </p:txBody>
      </p:sp>
      <p:sp>
        <p:nvSpPr>
          <p:cNvPr id="89" name="Text 28"/>
          <p:cNvSpPr txBox="1"/>
          <p:nvPr/>
        </p:nvSpPr>
        <p:spPr>
          <a:xfrm>
            <a:off x="6355079" y="3534585"/>
            <a:ext cx="4937762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i="1" sz="1200">
                <a:solidFill>
                  <a:srgbClr val="8A6151"/>
                </a:solidFill>
              </a:defRPr>
            </a:pPr>
            <a:r>
              <a:t>eliminar_columnas(): fuera 6 columnas redundantes o vacías</a:t>
            </a:r>
          </a:p>
          <a:p>
            <a:pPr>
              <a:defRPr i="1" sz="1200">
                <a:solidFill>
                  <a:srgbClr val="8A6151"/>
                </a:solidFill>
              </a:defRPr>
            </a:pPr>
            <a:r>
              <a:t>(Código del ámbito, Ámbito, Código del año, Código fuente, Fuente, Nota)</a:t>
            </a:r>
          </a:p>
        </p:txBody>
      </p:sp>
      <p:sp>
        <p:nvSpPr>
          <p:cNvPr id="90" name="Shape 29"/>
          <p:cNvSpPr/>
          <p:nvPr/>
        </p:nvSpPr>
        <p:spPr>
          <a:xfrm>
            <a:off x="6080759" y="4251959"/>
            <a:ext cx="5486402" cy="1417322"/>
          </a:xfrm>
          <a:prstGeom prst="roundRect">
            <a:avLst>
              <a:gd name="adj" fmla="val 5161"/>
            </a:avLst>
          </a:prstGeom>
          <a:solidFill>
            <a:srgbClr val="F0F7F1"/>
          </a:solidFill>
          <a:ln w="12700">
            <a:solidFill>
              <a:srgbClr val="D3E6D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 30"/>
          <p:cNvSpPr txBox="1"/>
          <p:nvPr/>
        </p:nvSpPr>
        <p:spPr>
          <a:xfrm>
            <a:off x="6355079" y="4378891"/>
            <a:ext cx="493776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4F8C5A"/>
                </a:solidFill>
              </a:defRPr>
            </a:lvl1pPr>
          </a:lstStyle>
          <a:p>
            <a:pPr/>
            <a:r>
              <a:t>Dataset limpio (11 columnas)</a:t>
            </a:r>
          </a:p>
        </p:txBody>
      </p:sp>
      <p:sp>
        <p:nvSpPr>
          <p:cNvPr id="92" name="Text 31"/>
          <p:cNvSpPr txBox="1"/>
          <p:nvPr/>
        </p:nvSpPr>
        <p:spPr>
          <a:xfrm>
            <a:off x="6355079" y="4683733"/>
            <a:ext cx="4937762" cy="462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3D5A44"/>
                </a:solidFill>
              </a:defRPr>
            </a:lvl1pPr>
          </a:lstStyle>
          <a:p>
            <a:pPr/>
            <a:r>
              <a:t>codigo_area, area, codigo_elemento, elemento, codigo_producto, producto, anio, unidad, valor, simbolo, descripcion_simbolo</a:t>
            </a:r>
          </a:p>
        </p:txBody>
      </p:sp>
      <p:sp>
        <p:nvSpPr>
          <p:cNvPr id="93" name="Text 32"/>
          <p:cNvSpPr txBox="1"/>
          <p:nvPr/>
        </p:nvSpPr>
        <p:spPr>
          <a:xfrm>
            <a:off x="6355079" y="5184087"/>
            <a:ext cx="4937762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200">
                <a:solidFill>
                  <a:srgbClr val="5B7A63"/>
                </a:solidFill>
              </a:defRPr>
            </a:lvl1pPr>
          </a:lstStyle>
          <a:p>
            <a:pPr/>
            <a:r>
              <a:t>normalizar_columnas(): nombres estandarizados en snake_case, listos para SQL</a:t>
            </a:r>
          </a:p>
        </p:txBody>
      </p:sp>
      <p:sp>
        <p:nvSpPr>
          <p:cNvPr id="94" name="Shape 33"/>
          <p:cNvSpPr/>
          <p:nvPr/>
        </p:nvSpPr>
        <p:spPr>
          <a:xfrm>
            <a:off x="6080759" y="5806440"/>
            <a:ext cx="5486402" cy="685802"/>
          </a:xfrm>
          <a:prstGeom prst="roundRect">
            <a:avLst>
              <a:gd name="adj" fmla="val 10667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Text 34"/>
          <p:cNvSpPr txBox="1"/>
          <p:nvPr/>
        </p:nvSpPr>
        <p:spPr>
          <a:xfrm>
            <a:off x="6355079" y="5979250"/>
            <a:ext cx="4983482" cy="340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2000">
                <a:solidFill>
                  <a:srgbClr val="D98C3F"/>
                </a:solidFill>
              </a:defRPr>
            </a:pPr>
            <a:r>
              <a:t>77.491</a:t>
            </a:r>
            <a:r>
              <a:rPr b="0" sz="1200">
                <a:solidFill>
                  <a:srgbClr val="E7E2D6"/>
                </a:solidFill>
              </a:rPr>
              <a:t>  filas combinadas de los 5 continentes  →  </a:t>
            </a:r>
            <a:r>
              <a:rPr sz="1200">
                <a:solidFill>
                  <a:srgbClr val="CFE0D4"/>
                </a:solidFill>
              </a:rPr>
              <a:t>continentes.csv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640080" y="457200"/>
            <a:ext cx="3291841" cy="310896"/>
          </a:xfrm>
          <a:prstGeom prst="roundRect">
            <a:avLst>
              <a:gd name="adj" fmla="val 23529"/>
            </a:avLst>
          </a:prstGeom>
          <a:solidFill>
            <a:srgbClr val="3A6B8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Text 1"/>
          <p:cNvSpPr txBox="1"/>
          <p:nvPr/>
        </p:nvSpPr>
        <p:spPr>
          <a:xfrm>
            <a:off x="685798" y="498393"/>
            <a:ext cx="3200404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3 · MYSQL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667511" y="868679"/>
            <a:ext cx="905256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Almacenamiento MySQL</a:t>
            </a:r>
          </a:p>
        </p:txBody>
      </p:sp>
      <p:sp>
        <p:nvSpPr>
          <p:cNvPr id="100" name="Text 3"/>
          <p:cNvSpPr txBox="1"/>
          <p:nvPr/>
        </p:nvSpPr>
        <p:spPr>
          <a:xfrm>
            <a:off x="667511" y="1425380"/>
            <a:ext cx="90525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300">
                <a:solidFill>
                  <a:srgbClr val="5B6B62"/>
                </a:solidFill>
              </a:defRPr>
            </a:pPr>
            <a:r>
              <a:t>Carga del dataset limpio en la base de datos </a:t>
            </a:r>
            <a:r>
              <a:rPr i="1"/>
              <a:t>proyecto_final</a:t>
            </a:r>
          </a:p>
        </p:txBody>
      </p:sp>
      <p:sp>
        <p:nvSpPr>
          <p:cNvPr id="101" name="Shape 4"/>
          <p:cNvSpPr/>
          <p:nvPr/>
        </p:nvSpPr>
        <p:spPr>
          <a:xfrm>
            <a:off x="621791" y="2011678"/>
            <a:ext cx="3246123" cy="141732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sx="100000" sy="100000" kx="0" ky="0" algn="b" rotWithShape="0" blurRad="76200" dist="25400" dir="54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" name="Text 5"/>
          <p:cNvSpPr txBox="1"/>
          <p:nvPr/>
        </p:nvSpPr>
        <p:spPr>
          <a:xfrm>
            <a:off x="850391" y="2168461"/>
            <a:ext cx="278892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2302A"/>
                </a:solidFill>
              </a:defRPr>
            </a:lvl1pPr>
          </a:lstStyle>
          <a:p>
            <a:pPr/>
            <a:r>
              <a:t>df_normalizado</a:t>
            </a:r>
          </a:p>
        </p:txBody>
      </p:sp>
      <p:sp>
        <p:nvSpPr>
          <p:cNvPr id="103" name="Text 6"/>
          <p:cNvSpPr txBox="1"/>
          <p:nvPr/>
        </p:nvSpPr>
        <p:spPr>
          <a:xfrm>
            <a:off x="850391" y="2542086"/>
            <a:ext cx="2788923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200">
                <a:solidFill>
                  <a:srgbClr val="5B6B62"/>
                </a:solidFill>
              </a:defRPr>
            </a:pPr>
            <a:r>
              <a:t>DataFrame de pandas con las</a:t>
            </a:r>
          </a:p>
          <a:p>
            <a:pPr>
              <a:defRPr sz="1200">
                <a:solidFill>
                  <a:srgbClr val="5B6B62"/>
                </a:solidFill>
              </a:defRPr>
            </a:pPr>
            <a:r>
              <a:t>11 columnas normalizadas</a:t>
            </a:r>
          </a:p>
        </p:txBody>
      </p:sp>
      <p:sp>
        <p:nvSpPr>
          <p:cNvPr id="104" name="Text 7"/>
          <p:cNvSpPr txBox="1"/>
          <p:nvPr/>
        </p:nvSpPr>
        <p:spPr>
          <a:xfrm>
            <a:off x="850391" y="3087547"/>
            <a:ext cx="27889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100">
                <a:solidFill>
                  <a:srgbClr val="9C9480"/>
                </a:solidFill>
              </a:defRPr>
            </a:lvl1pPr>
          </a:lstStyle>
          <a:p>
            <a:pPr/>
            <a:r>
              <a:t>insercion_mysql.py</a:t>
            </a:r>
          </a:p>
        </p:txBody>
      </p:sp>
      <p:sp>
        <p:nvSpPr>
          <p:cNvPr id="105" name="Text 8"/>
          <p:cNvSpPr txBox="1"/>
          <p:nvPr/>
        </p:nvSpPr>
        <p:spPr>
          <a:xfrm>
            <a:off x="4023359" y="2524368"/>
            <a:ext cx="457202" cy="437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6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6" name="Shape 9"/>
          <p:cNvSpPr/>
          <p:nvPr/>
        </p:nvSpPr>
        <p:spPr>
          <a:xfrm>
            <a:off x="4617720" y="2011678"/>
            <a:ext cx="3246122" cy="1417322"/>
          </a:xfrm>
          <a:prstGeom prst="roundRect">
            <a:avLst>
              <a:gd name="adj" fmla="val 5161"/>
            </a:avLst>
          </a:prstGeom>
          <a:solidFill>
            <a:srgbClr val="3A6B8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Text 10"/>
          <p:cNvSpPr txBox="1"/>
          <p:nvPr/>
        </p:nvSpPr>
        <p:spPr>
          <a:xfrm>
            <a:off x="4846320" y="2168461"/>
            <a:ext cx="278892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MySQL · proyecto_final</a:t>
            </a:r>
          </a:p>
        </p:txBody>
      </p:sp>
      <p:sp>
        <p:nvSpPr>
          <p:cNvPr id="108" name="Text 11"/>
          <p:cNvSpPr txBox="1"/>
          <p:nvPr/>
        </p:nvSpPr>
        <p:spPr>
          <a:xfrm>
            <a:off x="4846320" y="2500175"/>
            <a:ext cx="27889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200">
                <a:solidFill>
                  <a:srgbClr val="E4EEF5"/>
                </a:solidFill>
              </a:defRPr>
            </a:pPr>
            <a:r>
              <a:t>Tabla única: </a:t>
            </a:r>
            <a:r>
              <a:rPr i="1"/>
              <a:t>dataset_fao</a:t>
            </a:r>
          </a:p>
        </p:txBody>
      </p:sp>
      <p:sp>
        <p:nvSpPr>
          <p:cNvPr id="109" name="Text 12"/>
          <p:cNvSpPr txBox="1"/>
          <p:nvPr/>
        </p:nvSpPr>
        <p:spPr>
          <a:xfrm>
            <a:off x="4846320" y="2917866"/>
            <a:ext cx="2788922" cy="345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i="1" sz="900">
                <a:solidFill>
                  <a:srgbClr val="CFE1EC"/>
                </a:solidFill>
              </a:defRPr>
            </a:pPr>
            <a:r>
              <a:t>get_connection() vía mysql-connector</a:t>
            </a:r>
          </a:p>
          <a:p>
            <a:pPr>
              <a:defRPr i="1" sz="900">
                <a:solidFill>
                  <a:srgbClr val="CFE1EC"/>
                </a:solidFill>
              </a:defRPr>
            </a:pPr>
            <a:r>
              <a:t>(credenciales en .env)</a:t>
            </a:r>
          </a:p>
        </p:txBody>
      </p:sp>
      <p:sp>
        <p:nvSpPr>
          <p:cNvPr id="110" name="Shape 13"/>
          <p:cNvSpPr/>
          <p:nvPr/>
        </p:nvSpPr>
        <p:spPr>
          <a:xfrm>
            <a:off x="621791" y="3794759"/>
            <a:ext cx="384051" cy="384051"/>
          </a:xfrm>
          <a:prstGeom prst="ellipse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Text 14"/>
          <p:cNvSpPr txBox="1"/>
          <p:nvPr/>
        </p:nvSpPr>
        <p:spPr>
          <a:xfrm>
            <a:off x="667511" y="3846384"/>
            <a:ext cx="29261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2" name="Text 15"/>
          <p:cNvSpPr txBox="1"/>
          <p:nvPr/>
        </p:nvSpPr>
        <p:spPr>
          <a:xfrm>
            <a:off x="1188719" y="3875971"/>
            <a:ext cx="662940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22302A"/>
                </a:solidFill>
              </a:defRPr>
            </a:pPr>
            <a:r>
              <a:t>vaciar_tabla()  </a:t>
            </a:r>
            <a:r>
              <a:rPr b="0" sz="1100">
                <a:solidFill>
                  <a:srgbClr val="5B6B62"/>
                </a:solidFill>
              </a:rPr>
              <a:t>DELETE FROM dataset_fao — se limpia antes de cada carga, por si acaso</a:t>
            </a:r>
          </a:p>
        </p:txBody>
      </p:sp>
      <p:sp>
        <p:nvSpPr>
          <p:cNvPr id="113" name="Shape 16"/>
          <p:cNvSpPr/>
          <p:nvPr/>
        </p:nvSpPr>
        <p:spPr>
          <a:xfrm>
            <a:off x="621791" y="4416552"/>
            <a:ext cx="384051" cy="384051"/>
          </a:xfrm>
          <a:prstGeom prst="ellipse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Text 17"/>
          <p:cNvSpPr txBox="1"/>
          <p:nvPr/>
        </p:nvSpPr>
        <p:spPr>
          <a:xfrm>
            <a:off x="667511" y="4468177"/>
            <a:ext cx="29261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5" name="Text 18"/>
          <p:cNvSpPr txBox="1"/>
          <p:nvPr/>
        </p:nvSpPr>
        <p:spPr>
          <a:xfrm>
            <a:off x="1188719" y="4497764"/>
            <a:ext cx="662940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22302A"/>
                </a:solidFill>
              </a:defRPr>
            </a:pPr>
            <a:r>
              <a:t>insert_emissions(df)  </a:t>
            </a:r>
            <a:r>
              <a:rPr b="0" sz="1100">
                <a:solidFill>
                  <a:srgbClr val="5B6B62"/>
                </a:solidFill>
              </a:rPr>
              <a:t>INSERT masivo con cursor.executemany() — una sola llamada, un solo commit</a:t>
            </a:r>
          </a:p>
        </p:txBody>
      </p:sp>
      <p:sp>
        <p:nvSpPr>
          <p:cNvPr id="116" name="Shape 19"/>
          <p:cNvSpPr/>
          <p:nvPr/>
        </p:nvSpPr>
        <p:spPr>
          <a:xfrm>
            <a:off x="621791" y="5038344"/>
            <a:ext cx="384051" cy="384051"/>
          </a:xfrm>
          <a:prstGeom prst="ellipse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" name="Text 20"/>
          <p:cNvSpPr txBox="1"/>
          <p:nvPr/>
        </p:nvSpPr>
        <p:spPr>
          <a:xfrm>
            <a:off x="667511" y="5089968"/>
            <a:ext cx="29261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8" name="Text 21"/>
          <p:cNvSpPr txBox="1"/>
          <p:nvPr/>
        </p:nvSpPr>
        <p:spPr>
          <a:xfrm>
            <a:off x="1188719" y="5119555"/>
            <a:ext cx="662940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300">
                <a:solidFill>
                  <a:srgbClr val="22302A"/>
                </a:solidFill>
              </a:defRPr>
            </a:pPr>
            <a:r>
              <a:t>Validación  </a:t>
            </a:r>
            <a:r>
              <a:rPr b="0" sz="1100">
                <a:solidFill>
                  <a:srgbClr val="5B6B62"/>
                </a:solidFill>
              </a:rPr>
              <a:t>Consulta de control: filas insertadas y muestra de registros</a:t>
            </a:r>
          </a:p>
        </p:txBody>
      </p:sp>
      <p:sp>
        <p:nvSpPr>
          <p:cNvPr id="119" name="Shape 22"/>
          <p:cNvSpPr/>
          <p:nvPr/>
        </p:nvSpPr>
        <p:spPr>
          <a:xfrm>
            <a:off x="8275318" y="2011678"/>
            <a:ext cx="3246122" cy="4251962"/>
          </a:xfrm>
          <a:prstGeom prst="roundRect">
            <a:avLst>
              <a:gd name="adj" fmla="val 2817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" name="Text 23"/>
          <p:cNvSpPr txBox="1"/>
          <p:nvPr/>
        </p:nvSpPr>
        <p:spPr>
          <a:xfrm>
            <a:off x="8549639" y="2218866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D98C3F"/>
                </a:solidFill>
              </a:defRPr>
            </a:lvl1pPr>
          </a:lstStyle>
          <a:p>
            <a:pPr/>
            <a:r>
              <a:t>ESQUEMA · dataset_fao</a:t>
            </a:r>
          </a:p>
        </p:txBody>
      </p:sp>
      <p:sp>
        <p:nvSpPr>
          <p:cNvPr id="121" name="Text 24"/>
          <p:cNvSpPr txBox="1"/>
          <p:nvPr/>
        </p:nvSpPr>
        <p:spPr>
          <a:xfrm>
            <a:off x="8549639" y="2575482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codigo_area</a:t>
            </a:r>
          </a:p>
        </p:txBody>
      </p:sp>
      <p:sp>
        <p:nvSpPr>
          <p:cNvPr id="122" name="Text 25"/>
          <p:cNvSpPr txBox="1"/>
          <p:nvPr/>
        </p:nvSpPr>
        <p:spPr>
          <a:xfrm>
            <a:off x="8549639" y="2849802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area</a:t>
            </a:r>
          </a:p>
        </p:txBody>
      </p:sp>
      <p:sp>
        <p:nvSpPr>
          <p:cNvPr id="123" name="Text 26"/>
          <p:cNvSpPr txBox="1"/>
          <p:nvPr/>
        </p:nvSpPr>
        <p:spPr>
          <a:xfrm>
            <a:off x="8549639" y="3124122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codigo_elemento</a:t>
            </a:r>
          </a:p>
        </p:txBody>
      </p:sp>
      <p:sp>
        <p:nvSpPr>
          <p:cNvPr id="124" name="Text 27"/>
          <p:cNvSpPr txBox="1"/>
          <p:nvPr/>
        </p:nvSpPr>
        <p:spPr>
          <a:xfrm>
            <a:off x="8549639" y="3398441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elemento</a:t>
            </a:r>
          </a:p>
        </p:txBody>
      </p:sp>
      <p:sp>
        <p:nvSpPr>
          <p:cNvPr id="125" name="Text 28"/>
          <p:cNvSpPr txBox="1"/>
          <p:nvPr/>
        </p:nvSpPr>
        <p:spPr>
          <a:xfrm>
            <a:off x="8549639" y="3672761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codigo_producto</a:t>
            </a:r>
          </a:p>
        </p:txBody>
      </p:sp>
      <p:sp>
        <p:nvSpPr>
          <p:cNvPr id="126" name="Text 29"/>
          <p:cNvSpPr txBox="1"/>
          <p:nvPr/>
        </p:nvSpPr>
        <p:spPr>
          <a:xfrm>
            <a:off x="8549639" y="3947082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producto</a:t>
            </a:r>
          </a:p>
        </p:txBody>
      </p:sp>
      <p:sp>
        <p:nvSpPr>
          <p:cNvPr id="127" name="Text 30"/>
          <p:cNvSpPr txBox="1"/>
          <p:nvPr/>
        </p:nvSpPr>
        <p:spPr>
          <a:xfrm>
            <a:off x="8549639" y="4221402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anio</a:t>
            </a:r>
          </a:p>
        </p:txBody>
      </p:sp>
      <p:sp>
        <p:nvSpPr>
          <p:cNvPr id="128" name="Text 31"/>
          <p:cNvSpPr txBox="1"/>
          <p:nvPr/>
        </p:nvSpPr>
        <p:spPr>
          <a:xfrm>
            <a:off x="8549639" y="4495721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unidad</a:t>
            </a:r>
          </a:p>
        </p:txBody>
      </p:sp>
      <p:sp>
        <p:nvSpPr>
          <p:cNvPr id="129" name="Text 32"/>
          <p:cNvSpPr txBox="1"/>
          <p:nvPr/>
        </p:nvSpPr>
        <p:spPr>
          <a:xfrm>
            <a:off x="8549639" y="4770041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valor</a:t>
            </a:r>
          </a:p>
        </p:txBody>
      </p:sp>
      <p:sp>
        <p:nvSpPr>
          <p:cNvPr id="130" name="Text 33"/>
          <p:cNvSpPr txBox="1"/>
          <p:nvPr/>
        </p:nvSpPr>
        <p:spPr>
          <a:xfrm>
            <a:off x="8549639" y="5044361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simbolo</a:t>
            </a:r>
          </a:p>
        </p:txBody>
      </p:sp>
      <p:sp>
        <p:nvSpPr>
          <p:cNvPr id="131" name="Text 34"/>
          <p:cNvSpPr txBox="1"/>
          <p:nvPr/>
        </p:nvSpPr>
        <p:spPr>
          <a:xfrm>
            <a:off x="8549639" y="5318682"/>
            <a:ext cx="26974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EAE0"/>
                </a:solidFill>
              </a:defRPr>
            </a:lvl1pPr>
          </a:lstStyle>
          <a:p>
            <a:pPr/>
            <a:r>
              <a:t>•  descripcion_simbolo</a:t>
            </a:r>
          </a:p>
        </p:txBody>
      </p:sp>
      <p:sp>
        <p:nvSpPr>
          <p:cNvPr id="132" name="Shape 35"/>
          <p:cNvSpPr/>
          <p:nvPr/>
        </p:nvSpPr>
        <p:spPr>
          <a:xfrm>
            <a:off x="8503918" y="5623558"/>
            <a:ext cx="2788922" cy="3"/>
          </a:xfrm>
          <a:prstGeom prst="line">
            <a:avLst/>
          </a:prstGeom>
          <a:ln w="12700">
            <a:solidFill>
              <a:srgbClr val="3A5A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Text 36"/>
          <p:cNvSpPr txBox="1"/>
          <p:nvPr/>
        </p:nvSpPr>
        <p:spPr>
          <a:xfrm>
            <a:off x="8549639" y="5810250"/>
            <a:ext cx="269748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77.491 filas</a:t>
            </a:r>
          </a:p>
        </p:txBody>
      </p:sp>
      <p:sp>
        <p:nvSpPr>
          <p:cNvPr id="134" name="Text 37"/>
          <p:cNvSpPr txBox="1"/>
          <p:nvPr/>
        </p:nvSpPr>
        <p:spPr>
          <a:xfrm>
            <a:off x="8549639" y="6242814"/>
            <a:ext cx="269748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9FB6A8"/>
                </a:solidFill>
              </a:defRPr>
            </a:lvl1pPr>
          </a:lstStyle>
          <a:p>
            <a:pPr/>
            <a:r>
              <a:t>filas insertadas por executemany()</a:t>
            </a:r>
          </a:p>
        </p:txBody>
      </p:sp>
      <p:sp>
        <p:nvSpPr>
          <p:cNvPr id="135" name="Shape 38"/>
          <p:cNvSpPr/>
          <p:nvPr/>
        </p:nvSpPr>
        <p:spPr>
          <a:xfrm>
            <a:off x="621791" y="5943600"/>
            <a:ext cx="7315201" cy="548641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Text 39"/>
          <p:cNvSpPr txBox="1"/>
          <p:nvPr/>
        </p:nvSpPr>
        <p:spPr>
          <a:xfrm>
            <a:off x="868679" y="5998518"/>
            <a:ext cx="6858001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i="1" sz="1200">
                <a:solidFill>
                  <a:srgbClr val="5B6B62"/>
                </a:solidFill>
              </a:defRPr>
            </a:lvl1pPr>
          </a:lstStyle>
          <a:p>
            <a:pPr/>
            <a:r>
              <a:t>Por qué vaciar antes de insertar: evita duplicados si el pipeline se ejecuta más de una vez sobre los mismos datos.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" name="Text 1"/>
          <p:cNvSpPr txBox="1"/>
          <p:nvPr/>
        </p:nvSpPr>
        <p:spPr>
          <a:xfrm>
            <a:off x="685799" y="498393"/>
            <a:ext cx="420624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4 · EMISIONES.IPYNB · PUNTO 1</a:t>
            </a:r>
          </a:p>
        </p:txBody>
      </p:sp>
      <p:sp>
        <p:nvSpPr>
          <p:cNvPr id="140" name="Text 2"/>
          <p:cNvSpPr txBox="1"/>
          <p:nvPr/>
        </p:nvSpPr>
        <p:spPr>
          <a:xfrm>
            <a:off x="667511" y="894079"/>
            <a:ext cx="10698482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7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¿Cuánto emite la ganadería y hacia dónde va?</a:t>
            </a:r>
          </a:p>
        </p:txBody>
      </p:sp>
      <p:sp>
        <p:nvSpPr>
          <p:cNvPr id="141" name="Text 3"/>
          <p:cNvSpPr txBox="1"/>
          <p:nvPr/>
        </p:nvSpPr>
        <p:spPr>
          <a:xfrm>
            <a:off x="667511" y="1425380"/>
            <a:ext cx="104241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pPr/>
            <a:r>
              <a:t>Serie temporal mundial: metano y óxido nitroso, todos los animales y continentes, en una sola curva</a:t>
            </a:r>
          </a:p>
        </p:txBody>
      </p:sp>
      <p:sp>
        <p:nvSpPr>
          <p:cNvPr id="142" name="Shape 4"/>
          <p:cNvSpPr/>
          <p:nvPr/>
        </p:nvSpPr>
        <p:spPr>
          <a:xfrm>
            <a:off x="1280160" y="1874520"/>
            <a:ext cx="9601201" cy="365760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  <a:effectLst>
            <a:outerShdw sx="100000" sy="100000" kx="0" ky="0" algn="b" rotWithShape="0" blurRad="101600" dist="25400" dir="54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4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8760" y="2057400"/>
            <a:ext cx="9144001" cy="3291841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Shape 5"/>
          <p:cNvSpPr/>
          <p:nvPr/>
        </p:nvSpPr>
        <p:spPr>
          <a:xfrm>
            <a:off x="621791" y="5760720"/>
            <a:ext cx="10972801" cy="777242"/>
          </a:xfrm>
          <a:prstGeom prst="roundRect">
            <a:avLst>
              <a:gd name="adj" fmla="val 9412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Text 6"/>
          <p:cNvSpPr txBox="1"/>
          <p:nvPr/>
        </p:nvSpPr>
        <p:spPr>
          <a:xfrm>
            <a:off x="914400" y="5915250"/>
            <a:ext cx="10424160" cy="468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10000"/>
              </a:lnSpc>
              <a:defRPr b="1" sz="1200">
                <a:solidFill>
                  <a:srgbClr val="D98C3F"/>
                </a:solidFill>
              </a:defRPr>
            </a:pPr>
            <a:r>
              <a:t>+60% en seis décadas, sin señal de techo.  </a:t>
            </a:r>
            <a:r>
              <a:rPr b="0" sz="1300">
                <a:solidFill>
                  <a:srgbClr val="E7E2D6"/>
                </a:solidFill>
              </a:rPr>
              <a:t>El estancamiento de los 90 responde a la disolución de la URSS (1991) y a la reforma de la PAC europea (1992).</a:t>
            </a:r>
          </a:p>
          <a:p>
            <a:pPr defTabSz="457200">
              <a:defRPr sz="1200">
                <a:solidFill>
                  <a:srgbClr val="E7E2D6"/>
                </a:solidFill>
              </a:defRPr>
            </a:pPr>
            <a:r>
              <a:t>CO₂eq = 28 · CH₄ + 265 · N₂O. </a:t>
            </a:r>
            <a:r>
              <a:rPr sz="1100"/>
              <a:t>     28 y 265 son los potenciales de calentamiento global para el metano y el óxido nitroso, respectivamente.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Text 1"/>
          <p:cNvSpPr txBox="1"/>
          <p:nvPr/>
        </p:nvSpPr>
        <p:spPr>
          <a:xfrm>
            <a:off x="685799" y="498393"/>
            <a:ext cx="420624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4 · EMISIONES.IPYNB · PUNTO 2</a:t>
            </a:r>
          </a:p>
        </p:txBody>
      </p:sp>
      <p:sp>
        <p:nvSpPr>
          <p:cNvPr id="149" name="Text 2"/>
          <p:cNvSpPr txBox="1"/>
          <p:nvPr/>
        </p:nvSpPr>
        <p:spPr>
          <a:xfrm>
            <a:off x="667511" y="894079"/>
            <a:ext cx="10698482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7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¿Qué animales están detrás de esas emisiones?</a:t>
            </a:r>
          </a:p>
        </p:txBody>
      </p:sp>
      <p:sp>
        <p:nvSpPr>
          <p:cNvPr id="150" name="Text 3"/>
          <p:cNvSpPr txBox="1"/>
          <p:nvPr/>
        </p:nvSpPr>
        <p:spPr>
          <a:xfrm>
            <a:off x="667511" y="1415482"/>
            <a:ext cx="1060704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500">
                <a:solidFill>
                  <a:srgbClr val="5B6B62"/>
                </a:solidFill>
              </a:defRPr>
            </a:lvl1pPr>
          </a:lstStyle>
          <a:p>
            <a:pPr/>
            <a:r>
              <a:t>Dos gráficos: cuánto emite cada tipo de ganado en conjunto y cuánto emite cada animal individual</a:t>
            </a:r>
          </a:p>
        </p:txBody>
      </p:sp>
      <p:sp>
        <p:nvSpPr>
          <p:cNvPr id="151" name="Text 4"/>
          <p:cNvSpPr txBox="1"/>
          <p:nvPr/>
        </p:nvSpPr>
        <p:spPr>
          <a:xfrm>
            <a:off x="667510" y="1853107"/>
            <a:ext cx="53035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B5443A"/>
                </a:solidFill>
              </a:defRPr>
            </a:lvl1pPr>
          </a:lstStyle>
          <a:p>
            <a:pPr/>
            <a:r>
              <a:t>EN CONJUNTO (2023)</a:t>
            </a:r>
          </a:p>
        </p:txBody>
      </p:sp>
      <p:sp>
        <p:nvSpPr>
          <p:cNvPr id="152" name="Shape 5"/>
          <p:cNvSpPr/>
          <p:nvPr/>
        </p:nvSpPr>
        <p:spPr>
          <a:xfrm>
            <a:off x="621791" y="2121406"/>
            <a:ext cx="5440682" cy="3429003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8951" y="2258566"/>
            <a:ext cx="5166362" cy="3154683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6"/>
          <p:cNvSpPr txBox="1"/>
          <p:nvPr/>
        </p:nvSpPr>
        <p:spPr>
          <a:xfrm>
            <a:off x="6217918" y="1853107"/>
            <a:ext cx="53035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3A6B8F"/>
                </a:solidFill>
              </a:defRPr>
            </a:lvl1pPr>
          </a:lstStyle>
          <a:p>
            <a:pPr/>
            <a:r>
              <a:t>POR CABEZA Y AÑO — escala logarítmica (2023)</a:t>
            </a:r>
          </a:p>
        </p:txBody>
      </p:sp>
      <p:sp>
        <p:nvSpPr>
          <p:cNvPr id="155" name="Shape 7"/>
          <p:cNvSpPr/>
          <p:nvPr/>
        </p:nvSpPr>
        <p:spPr>
          <a:xfrm>
            <a:off x="6172200" y="2121406"/>
            <a:ext cx="5394960" cy="3429003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5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9359" y="2258566"/>
            <a:ext cx="5120641" cy="3154683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hape 8"/>
          <p:cNvSpPr/>
          <p:nvPr/>
        </p:nvSpPr>
        <p:spPr>
          <a:xfrm>
            <a:off x="621791" y="5715000"/>
            <a:ext cx="10972801" cy="822962"/>
          </a:xfrm>
          <a:prstGeom prst="roundRect">
            <a:avLst>
              <a:gd name="adj" fmla="val 8889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" name="Text 9"/>
          <p:cNvSpPr txBox="1"/>
          <p:nvPr/>
        </p:nvSpPr>
        <p:spPr>
          <a:xfrm>
            <a:off x="914400" y="5780838"/>
            <a:ext cx="10424160" cy="691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08000"/>
              </a:lnSpc>
              <a:defRPr b="1" sz="1300">
                <a:solidFill>
                  <a:srgbClr val="D98C3F"/>
                </a:solidFill>
              </a:defRPr>
            </a:pPr>
            <a:r>
              <a:t>Vacunos y vacas lecheras suman el 76% del total mundial de emisiones del sector.  </a:t>
            </a:r>
            <a:r>
              <a:rPr b="0">
                <a:solidFill>
                  <a:srgbClr val="E7E2D6"/>
                </a:solidFill>
              </a:rPr>
              <a:t>Por cabeza, una vaca lechera emite tanto como 680 pollos parrilleros: no es diferencia de grado, es de naturaleza (fermentación entérica = metano). Reducir el consumo de vacuno pesa más que cualquier cambio en avicultura.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Text 1"/>
          <p:cNvSpPr txBox="1"/>
          <p:nvPr/>
        </p:nvSpPr>
        <p:spPr>
          <a:xfrm>
            <a:off x="685799" y="498393"/>
            <a:ext cx="420624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4 · EMISIONES.IPYNB · PUNTO 3</a:t>
            </a:r>
          </a:p>
        </p:txBody>
      </p:sp>
      <p:sp>
        <p:nvSpPr>
          <p:cNvPr id="162" name="Text 2"/>
          <p:cNvSpPr txBox="1"/>
          <p:nvPr/>
        </p:nvSpPr>
        <p:spPr>
          <a:xfrm>
            <a:off x="667511" y="887730"/>
            <a:ext cx="10698482" cy="510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8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¿Ha crecido todo por igual?</a:t>
            </a:r>
          </a:p>
        </p:txBody>
      </p:sp>
      <p:sp>
        <p:nvSpPr>
          <p:cNvPr id="163" name="Text 3"/>
          <p:cNvSpPr txBox="1"/>
          <p:nvPr/>
        </p:nvSpPr>
        <p:spPr>
          <a:xfrm>
            <a:off x="667511" y="1425380"/>
            <a:ext cx="1060704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pPr/>
            <a:r>
              <a:t>Si las emisiones dependieran solo del número de animales, ambas magnitudes crecerían al mismo ritmo</a:t>
            </a:r>
          </a:p>
        </p:txBody>
      </p:sp>
      <p:sp>
        <p:nvSpPr>
          <p:cNvPr id="164" name="Text 4"/>
          <p:cNvSpPr txBox="1"/>
          <p:nvPr/>
        </p:nvSpPr>
        <p:spPr>
          <a:xfrm>
            <a:off x="667510" y="1853107"/>
            <a:ext cx="53035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3A6B8F"/>
                </a:solidFill>
              </a:defRPr>
            </a:lvl1pPr>
          </a:lstStyle>
          <a:p>
            <a:pPr/>
            <a:r>
              <a:t>ANIMALES VS. EMISIONES (1961 = 100)</a:t>
            </a:r>
          </a:p>
        </p:txBody>
      </p:sp>
      <p:sp>
        <p:nvSpPr>
          <p:cNvPr id="165" name="Shape 5"/>
          <p:cNvSpPr/>
          <p:nvPr/>
        </p:nvSpPr>
        <p:spPr>
          <a:xfrm>
            <a:off x="621791" y="2121406"/>
            <a:ext cx="5440682" cy="301752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2258566"/>
            <a:ext cx="5166360" cy="2743202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6"/>
          <p:cNvSpPr txBox="1"/>
          <p:nvPr/>
        </p:nvSpPr>
        <p:spPr>
          <a:xfrm>
            <a:off x="667511" y="5229660"/>
            <a:ext cx="534924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200">
                <a:solidFill>
                  <a:srgbClr val="3A6B8F"/>
                </a:solidFill>
              </a:defRPr>
            </a:pPr>
            <a:r>
              <a:t>×4,7 animales  </a:t>
            </a:r>
            <a:r>
              <a:rPr b="0" sz="1000">
                <a:solidFill>
                  <a:srgbClr val="5B6B62"/>
                </a:solidFill>
              </a:rPr>
              <a:t>vs.  </a:t>
            </a:r>
            <a:r>
              <a:rPr>
                <a:solidFill>
                  <a:srgbClr val="B5443A"/>
                </a:solidFill>
              </a:rPr>
              <a:t>×1,6 emisiones</a:t>
            </a:r>
            <a:r>
              <a:rPr b="0" sz="1000">
                <a:solidFill>
                  <a:srgbClr val="5B6B62"/>
                </a:solidFill>
              </a:rPr>
              <a:t>  (7.000 → 33.200 M cabezas)</a:t>
            </a:r>
          </a:p>
        </p:txBody>
      </p:sp>
      <p:sp>
        <p:nvSpPr>
          <p:cNvPr id="168" name="Text 7"/>
          <p:cNvSpPr txBox="1"/>
          <p:nvPr/>
        </p:nvSpPr>
        <p:spPr>
          <a:xfrm>
            <a:off x="6217918" y="1853107"/>
            <a:ext cx="53035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D98C3F"/>
                </a:solidFill>
              </a:defRPr>
            </a:lvl1pPr>
          </a:lstStyle>
          <a:p>
            <a:pPr/>
            <a:r>
              <a:t>COMPOSICIÓN DEL CENSO MUNDIAL (%)</a:t>
            </a:r>
          </a:p>
        </p:txBody>
      </p:sp>
      <p:sp>
        <p:nvSpPr>
          <p:cNvPr id="169" name="Shape 8"/>
          <p:cNvSpPr/>
          <p:nvPr/>
        </p:nvSpPr>
        <p:spPr>
          <a:xfrm>
            <a:off x="6172200" y="2121406"/>
            <a:ext cx="5394960" cy="301752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7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63640" y="2212848"/>
            <a:ext cx="5212082" cy="2880362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 9"/>
          <p:cNvSpPr txBox="1"/>
          <p:nvPr/>
        </p:nvSpPr>
        <p:spPr>
          <a:xfrm>
            <a:off x="6217918" y="5229660"/>
            <a:ext cx="5303523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200">
                <a:solidFill>
                  <a:srgbClr val="D98C3F"/>
                </a:solidFill>
              </a:defRPr>
            </a:pPr>
            <a:r>
              <a:t>Aves: 61,5% → 85%  </a:t>
            </a:r>
            <a:r>
              <a:rPr b="0" sz="1000">
                <a:solidFill>
                  <a:srgbClr val="5B6B62"/>
                </a:solidFill>
              </a:rPr>
              <a:t>del censo · </a:t>
            </a:r>
            <a:r>
              <a:rPr>
                <a:solidFill>
                  <a:srgbClr val="B5443A"/>
                </a:solidFill>
              </a:rPr>
              <a:t>Rumiantes: 32,7% → 12,1%</a:t>
            </a:r>
          </a:p>
        </p:txBody>
      </p:sp>
      <p:sp>
        <p:nvSpPr>
          <p:cNvPr id="172" name="Shape 10"/>
          <p:cNvSpPr/>
          <p:nvPr/>
        </p:nvSpPr>
        <p:spPr>
          <a:xfrm>
            <a:off x="621791" y="5669279"/>
            <a:ext cx="10972801" cy="868682"/>
          </a:xfrm>
          <a:prstGeom prst="roundRect">
            <a:avLst>
              <a:gd name="adj" fmla="val 8421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 11"/>
          <p:cNvSpPr txBox="1"/>
          <p:nvPr/>
        </p:nvSpPr>
        <p:spPr>
          <a:xfrm>
            <a:off x="914400" y="5866249"/>
            <a:ext cx="10424160" cy="47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08000"/>
              </a:lnSpc>
              <a:defRPr b="1" sz="1300">
                <a:solidFill>
                  <a:srgbClr val="D98C3F"/>
                </a:solidFill>
              </a:defRPr>
            </a:pPr>
            <a:r>
              <a:t>Es la composición del censo lo que determina las emisiones, no su tamaño.   </a:t>
            </a:r>
            <a:r>
              <a:rPr b="0">
                <a:solidFill>
                  <a:srgbClr val="E7E2D6"/>
                </a:solidFill>
              </a:rPr>
              <a:t>El censo se multiplicó por 4,7 casi solo con aves, de bajo impacto para las emisiones. No hay mejora de eficiencia: el sector no ha reducido el impacto de criar una vaca, sino que ha añadido miles de millones de pollos.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Text 1"/>
          <p:cNvSpPr txBox="1"/>
          <p:nvPr/>
        </p:nvSpPr>
        <p:spPr>
          <a:xfrm>
            <a:off x="685799" y="498393"/>
            <a:ext cx="420624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4 · EMISIONES.IPYNB · PUNTO 4</a:t>
            </a:r>
          </a:p>
        </p:txBody>
      </p:sp>
      <p:sp>
        <p:nvSpPr>
          <p:cNvPr id="177" name="Text 2"/>
          <p:cNvSpPr txBox="1"/>
          <p:nvPr/>
        </p:nvSpPr>
        <p:spPr>
          <a:xfrm>
            <a:off x="6203841" y="1152261"/>
            <a:ext cx="4935014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pPr/>
            <a:r>
              <a:t>El mapa de color muestra qué especies son responsables de las emisiones dentro de cada continente</a:t>
            </a:r>
          </a:p>
        </p:txBody>
      </p:sp>
      <p:sp>
        <p:nvSpPr>
          <p:cNvPr id="178" name="Text 3"/>
          <p:cNvSpPr txBox="1"/>
          <p:nvPr/>
        </p:nvSpPr>
        <p:spPr>
          <a:xfrm>
            <a:off x="188358" y="1252133"/>
            <a:ext cx="5633211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pPr/>
            <a:r>
              <a:t>Al separar por continentes aparece un panorama mucho menos homogéneo que el agregado mundial. </a:t>
            </a:r>
          </a:p>
        </p:txBody>
      </p:sp>
      <p:sp>
        <p:nvSpPr>
          <p:cNvPr id="179" name="Text 4"/>
          <p:cNvSpPr txBox="1"/>
          <p:nvPr/>
        </p:nvSpPr>
        <p:spPr>
          <a:xfrm>
            <a:off x="667510" y="1853107"/>
            <a:ext cx="53035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B5443A"/>
                </a:solidFill>
              </a:defRPr>
            </a:lvl1pPr>
          </a:lstStyle>
          <a:p>
            <a:pPr/>
            <a:r>
              <a:t>EMISIONES POR CONTINENTE (1961–2023)</a:t>
            </a:r>
          </a:p>
        </p:txBody>
      </p:sp>
      <p:sp>
        <p:nvSpPr>
          <p:cNvPr id="180" name="Shape 5"/>
          <p:cNvSpPr/>
          <p:nvPr/>
        </p:nvSpPr>
        <p:spPr>
          <a:xfrm>
            <a:off x="621791" y="2121406"/>
            <a:ext cx="5440682" cy="2880362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8951" y="2240278"/>
            <a:ext cx="5166362" cy="2651762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22"/>
          <p:cNvSpPr txBox="1"/>
          <p:nvPr/>
        </p:nvSpPr>
        <p:spPr>
          <a:xfrm>
            <a:off x="6217918" y="1853107"/>
            <a:ext cx="53035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D98C3F"/>
                </a:solidFill>
              </a:defRPr>
            </a:lvl1pPr>
          </a:lstStyle>
          <a:p>
            <a:pPr/>
            <a:r>
              <a:t>PESO DE CADA ESPECIE POR CONTINENTE (%, 2023)</a:t>
            </a:r>
          </a:p>
        </p:txBody>
      </p:sp>
      <p:sp>
        <p:nvSpPr>
          <p:cNvPr id="183" name="Shape 23"/>
          <p:cNvSpPr/>
          <p:nvPr/>
        </p:nvSpPr>
        <p:spPr>
          <a:xfrm>
            <a:off x="6172200" y="2121406"/>
            <a:ext cx="5394960" cy="2880362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8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1928" y="2240278"/>
            <a:ext cx="5175506" cy="2651762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Shape 25"/>
          <p:cNvSpPr/>
          <p:nvPr/>
        </p:nvSpPr>
        <p:spPr>
          <a:xfrm>
            <a:off x="317390" y="5206441"/>
            <a:ext cx="5633212" cy="1439346"/>
          </a:xfrm>
          <a:prstGeom prst="roundRect">
            <a:avLst>
              <a:gd name="adj" fmla="val 5135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Text 26"/>
          <p:cNvSpPr txBox="1"/>
          <p:nvPr/>
        </p:nvSpPr>
        <p:spPr>
          <a:xfrm>
            <a:off x="353202" y="5363930"/>
            <a:ext cx="5303523" cy="112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08000"/>
              </a:lnSpc>
              <a:defRPr b="1" sz="1300">
                <a:solidFill>
                  <a:srgbClr val="D98C3F"/>
                </a:solidFill>
              </a:defRPr>
            </a:pPr>
            <a:r>
              <a:t>Mismo mundo, modelos productivos distintos.  </a:t>
            </a:r>
            <a:r>
              <a:rPr b="0">
                <a:solidFill>
                  <a:srgbClr val="E7E2D6"/>
                </a:solidFill>
              </a:rPr>
              <a:t>Europa es el único continente que ha revertido la tendencia (pasó del 31% al 11% del reparto mundial); África la ha triplicado y ya alcanza el 21%. </a:t>
            </a:r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Cada continente concentra su impacto en especies distintas: no hay un patrón único.</a:t>
            </a:r>
          </a:p>
        </p:txBody>
      </p:sp>
      <p:sp>
        <p:nvSpPr>
          <p:cNvPr id="187" name="Shape 25"/>
          <p:cNvSpPr/>
          <p:nvPr/>
        </p:nvSpPr>
        <p:spPr>
          <a:xfrm>
            <a:off x="6196657" y="5206441"/>
            <a:ext cx="5774004" cy="1439346"/>
          </a:xfrm>
          <a:prstGeom prst="roundRect">
            <a:avLst>
              <a:gd name="adj" fmla="val 5135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" name="Text 26"/>
          <p:cNvSpPr txBox="1"/>
          <p:nvPr/>
        </p:nvSpPr>
        <p:spPr>
          <a:xfrm>
            <a:off x="6316128" y="5255660"/>
            <a:ext cx="5303523" cy="1340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 Los bovinos concentran el mayor porcentaje de emisiones en todos los continentes. En América, en concreto, el vacuno de carne supone casi un 80% del total de emisiones.  </a:t>
            </a:r>
            <a:endParaRPr b="1">
              <a:solidFill>
                <a:srgbClr val="D98C3F"/>
              </a:solidFill>
            </a:endParaRPr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En Europa y Asia, aves de corral y porcinos tienen porcentajes más elevados debido a la producción intensiva, ya que las emisiones derivadas de la producción de estos animales por cabeza son bajas.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640080" y="457200"/>
            <a:ext cx="4297680" cy="310896"/>
          </a:xfrm>
          <a:prstGeom prst="roundRect">
            <a:avLst>
              <a:gd name="adj" fmla="val 23529"/>
            </a:avLst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Text 1"/>
          <p:cNvSpPr txBox="1"/>
          <p:nvPr/>
        </p:nvSpPr>
        <p:spPr>
          <a:xfrm>
            <a:off x="685799" y="498393"/>
            <a:ext cx="420624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4 · EMISIONES.IPYNB · PUNTO 5</a:t>
            </a:r>
          </a:p>
        </p:txBody>
      </p:sp>
      <p:sp>
        <p:nvSpPr>
          <p:cNvPr id="192" name="Text 2"/>
          <p:cNvSpPr txBox="1"/>
          <p:nvPr/>
        </p:nvSpPr>
        <p:spPr>
          <a:xfrm>
            <a:off x="667511" y="868679"/>
            <a:ext cx="905256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Conclusiones</a:t>
            </a:r>
          </a:p>
        </p:txBody>
      </p:sp>
      <p:sp>
        <p:nvSpPr>
          <p:cNvPr id="193" name="Text 3"/>
          <p:cNvSpPr txBox="1"/>
          <p:nvPr/>
        </p:nvSpPr>
        <p:spPr>
          <a:xfrm>
            <a:off x="667511" y="1425380"/>
            <a:ext cx="90525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9FB6A8"/>
                </a:solidFill>
              </a:defRPr>
            </a:lvl1pPr>
          </a:lstStyle>
          <a:p>
            <a:pPr/>
            <a:r>
              <a:t>Lo que muestran los datos</a:t>
            </a:r>
          </a:p>
        </p:txBody>
      </p:sp>
      <p:sp>
        <p:nvSpPr>
          <p:cNvPr id="194" name="Shape 4"/>
          <p:cNvSpPr/>
          <p:nvPr/>
        </p:nvSpPr>
        <p:spPr>
          <a:xfrm>
            <a:off x="621791" y="1874520"/>
            <a:ext cx="402339" cy="402339"/>
          </a:xfrm>
          <a:prstGeom prst="ellipse">
            <a:avLst/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Text 5"/>
          <p:cNvSpPr txBox="1"/>
          <p:nvPr/>
        </p:nvSpPr>
        <p:spPr>
          <a:xfrm>
            <a:off x="667511" y="1936690"/>
            <a:ext cx="310898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6" name="Text 6"/>
          <p:cNvSpPr txBox="1"/>
          <p:nvPr/>
        </p:nvSpPr>
        <p:spPr>
          <a:xfrm>
            <a:off x="1234438" y="1845250"/>
            <a:ext cx="10149844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El impacto es grande y sigue creciendo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1234438" y="2184331"/>
            <a:ext cx="10149844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pPr/>
            <a:r>
              <a:t>2.347 → 3.765 Mt CO₂eq entre 1961 y 2023 (+60%). No hay señal de techo.</a:t>
            </a:r>
          </a:p>
        </p:txBody>
      </p:sp>
      <p:sp>
        <p:nvSpPr>
          <p:cNvPr id="198" name="Shape 8"/>
          <p:cNvSpPr/>
          <p:nvPr/>
        </p:nvSpPr>
        <p:spPr>
          <a:xfrm>
            <a:off x="621791" y="2569464"/>
            <a:ext cx="402339" cy="402339"/>
          </a:xfrm>
          <a:prstGeom prst="ellipse">
            <a:avLst/>
          </a:prstGeom>
          <a:solidFill>
            <a:srgbClr val="D98C3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" name="Text 9"/>
          <p:cNvSpPr txBox="1"/>
          <p:nvPr/>
        </p:nvSpPr>
        <p:spPr>
          <a:xfrm>
            <a:off x="667511" y="2631634"/>
            <a:ext cx="310898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00" name="Text 10"/>
          <p:cNvSpPr txBox="1"/>
          <p:nvPr/>
        </p:nvSpPr>
        <p:spPr>
          <a:xfrm>
            <a:off x="1234438" y="2540194"/>
            <a:ext cx="10149844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La responsabilidad está muy concentrada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1234438" y="2897021"/>
            <a:ext cx="1014984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pPr/>
            <a:r>
              <a:t>Los rumiantes generan el 91,2% de las emisiones; el vacuno (carne + leche) el 75,8%, por la fermentación entérica.</a:t>
            </a:r>
          </a:p>
        </p:txBody>
      </p:sp>
      <p:sp>
        <p:nvSpPr>
          <p:cNvPr id="202" name="Shape 12"/>
          <p:cNvSpPr/>
          <p:nvPr/>
        </p:nvSpPr>
        <p:spPr>
          <a:xfrm>
            <a:off x="621791" y="3264408"/>
            <a:ext cx="402339" cy="402339"/>
          </a:xfrm>
          <a:prstGeom prst="ellipse">
            <a:avLst/>
          </a:prstGeom>
          <a:solidFill>
            <a:srgbClr val="4F8C5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" name="Text 13"/>
          <p:cNvSpPr txBox="1"/>
          <p:nvPr/>
        </p:nvSpPr>
        <p:spPr>
          <a:xfrm>
            <a:off x="667511" y="3326578"/>
            <a:ext cx="310898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4" name="Text 14"/>
          <p:cNvSpPr txBox="1"/>
          <p:nvPr/>
        </p:nvSpPr>
        <p:spPr>
          <a:xfrm>
            <a:off x="1234438" y="3235138"/>
            <a:ext cx="10149844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La diferencia entre especies es de otro orden</a:t>
            </a:r>
          </a:p>
        </p:txBody>
      </p:sp>
      <p:sp>
        <p:nvSpPr>
          <p:cNvPr id="205" name="Text 15"/>
          <p:cNvSpPr txBox="1"/>
          <p:nvPr/>
        </p:nvSpPr>
        <p:spPr>
          <a:xfrm>
            <a:off x="1234438" y="3574220"/>
            <a:ext cx="10149844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pPr/>
            <a:r>
              <a:t>Una vaca lechera emite al año lo mismo que 680 pollos parrilleros. No es diferencia de grado, es de naturaleza.</a:t>
            </a:r>
          </a:p>
        </p:txBody>
      </p:sp>
      <p:sp>
        <p:nvSpPr>
          <p:cNvPr id="206" name="Shape 16"/>
          <p:cNvSpPr/>
          <p:nvPr/>
        </p:nvSpPr>
        <p:spPr>
          <a:xfrm>
            <a:off x="621791" y="3959352"/>
            <a:ext cx="402339" cy="402339"/>
          </a:xfrm>
          <a:prstGeom prst="ellipse">
            <a:avLst/>
          </a:prstGeom>
          <a:solidFill>
            <a:srgbClr val="3A6B8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" name="Text 17"/>
          <p:cNvSpPr txBox="1"/>
          <p:nvPr/>
        </p:nvSpPr>
        <p:spPr>
          <a:xfrm>
            <a:off x="667511" y="4021522"/>
            <a:ext cx="310898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8" name="Text 18"/>
          <p:cNvSpPr txBox="1"/>
          <p:nvPr/>
        </p:nvSpPr>
        <p:spPr>
          <a:xfrm>
            <a:off x="1234438" y="3930082"/>
            <a:ext cx="10149844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Importa más la composición que el tamaño</a:t>
            </a:r>
          </a:p>
        </p:txBody>
      </p:sp>
      <p:sp>
        <p:nvSpPr>
          <p:cNvPr id="209" name="Text 19"/>
          <p:cNvSpPr txBox="1"/>
          <p:nvPr/>
        </p:nvSpPr>
        <p:spPr>
          <a:xfrm>
            <a:off x="1234438" y="4269164"/>
            <a:ext cx="1014984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pPr/>
            <a:r>
              <a:t>El censo se multiplicó ×4,7 y las emisiones solo ×1,6, porque el crecimiento fue casi íntegramente avícola.</a:t>
            </a:r>
          </a:p>
        </p:txBody>
      </p:sp>
      <p:sp>
        <p:nvSpPr>
          <p:cNvPr id="210" name="Shape 20"/>
          <p:cNvSpPr/>
          <p:nvPr/>
        </p:nvSpPr>
        <p:spPr>
          <a:xfrm>
            <a:off x="621791" y="4654296"/>
            <a:ext cx="402339" cy="402339"/>
          </a:xfrm>
          <a:prstGeom prst="ellipse">
            <a:avLst/>
          </a:prstGeom>
          <a:solidFill>
            <a:srgbClr val="8A6B9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" name="Text 21"/>
          <p:cNvSpPr txBox="1"/>
          <p:nvPr/>
        </p:nvSpPr>
        <p:spPr>
          <a:xfrm>
            <a:off x="667511" y="4716466"/>
            <a:ext cx="310898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12" name="Text 22"/>
          <p:cNvSpPr txBox="1"/>
          <p:nvPr/>
        </p:nvSpPr>
        <p:spPr>
          <a:xfrm>
            <a:off x="1234438" y="4625026"/>
            <a:ext cx="10149844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La distribución geográfica es muy desigual</a:t>
            </a:r>
          </a:p>
        </p:txBody>
      </p:sp>
      <p:sp>
        <p:nvSpPr>
          <p:cNvPr id="213" name="Text 23"/>
          <p:cNvSpPr txBox="1"/>
          <p:nvPr/>
        </p:nvSpPr>
        <p:spPr>
          <a:xfrm>
            <a:off x="1234438" y="4964108"/>
            <a:ext cx="1014984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B9C9BE"/>
                </a:solidFill>
              </a:defRPr>
            </a:lvl1pPr>
          </a:lstStyle>
          <a:p>
            <a:pPr/>
            <a:r>
              <a:t>África triplicó sus emisiones, Asia las duplicó; Europa las redujo un 43% .</a:t>
            </a:r>
          </a:p>
        </p:txBody>
      </p:sp>
      <p:sp>
        <p:nvSpPr>
          <p:cNvPr id="214" name="Shape 24"/>
          <p:cNvSpPr/>
          <p:nvPr/>
        </p:nvSpPr>
        <p:spPr>
          <a:xfrm>
            <a:off x="621791" y="5440679"/>
            <a:ext cx="10972801" cy="1051562"/>
          </a:xfrm>
          <a:prstGeom prst="roundRect">
            <a:avLst>
              <a:gd name="adj" fmla="val 8696"/>
            </a:avLst>
          </a:prstGeom>
          <a:solidFill>
            <a:srgbClr val="17291F"/>
          </a:solidFill>
          <a:ln w="12700">
            <a:solidFill>
              <a:srgbClr val="2E544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Text 26"/>
          <p:cNvSpPr txBox="1"/>
          <p:nvPr/>
        </p:nvSpPr>
        <p:spPr>
          <a:xfrm>
            <a:off x="711833" y="5617576"/>
            <a:ext cx="10413859" cy="1124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El vínculo entre alimentación y emisiones no es proporcional al volumen de ganado, sino a su composición. Reducir un 25% la cabaña de vacuno de carne evitaría unas 528 Mt CO₂eq: más que toda Europa (417 Mt) y cuatro veces más lo que se ahorraría eliminando la avicultura mundial (131 Mt).</a:t>
            </a:r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  <a:r>
              <a:t>Además, para producir 1 kg de carne de vaca se requieren unos 15.000 litros de agua, otro motivo que invita a replantearnos un cambio de alimentación.</a:t>
            </a:r>
          </a:p>
          <a:p>
            <a:pPr>
              <a:lnSpc>
                <a:spcPct val="108000"/>
              </a:lnSpc>
              <a:defRPr sz="1300">
                <a:solidFill>
                  <a:srgbClr val="E7E2D6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640080" y="457200"/>
            <a:ext cx="4206241" cy="310896"/>
          </a:xfrm>
          <a:prstGeom prst="roundRect">
            <a:avLst>
              <a:gd name="adj" fmla="val 23529"/>
            </a:avLst>
          </a:prstGeom>
          <a:solidFill>
            <a:srgbClr val="8A6B9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Text 1"/>
          <p:cNvSpPr txBox="1"/>
          <p:nvPr/>
        </p:nvSpPr>
        <p:spPr>
          <a:xfrm>
            <a:off x="685798" y="498393"/>
            <a:ext cx="4114803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5 · POWER BI (EMISIONES.PBIX)</a:t>
            </a:r>
          </a:p>
        </p:txBody>
      </p:sp>
      <p:sp>
        <p:nvSpPr>
          <p:cNvPr id="219" name="Text 2"/>
          <p:cNvSpPr txBox="1"/>
          <p:nvPr/>
        </p:nvSpPr>
        <p:spPr>
          <a:xfrm>
            <a:off x="667511" y="868679"/>
            <a:ext cx="905256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El dashboard: página Vacunos</a:t>
            </a:r>
          </a:p>
        </p:txBody>
      </p:sp>
      <p:sp>
        <p:nvSpPr>
          <p:cNvPr id="220" name="Text 3"/>
          <p:cNvSpPr txBox="1"/>
          <p:nvPr/>
        </p:nvSpPr>
        <p:spPr>
          <a:xfrm>
            <a:off x="667511" y="1425380"/>
            <a:ext cx="104241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9FB6A8"/>
                </a:solidFill>
              </a:defRPr>
            </a:lvl1pPr>
          </a:lstStyle>
          <a:p>
            <a:pPr/>
            <a:r>
              <a:t>Power BI conectado directamente a MySQL (proyecto_final.dataset_fao) </a:t>
            </a:r>
          </a:p>
        </p:txBody>
      </p:sp>
      <p:sp>
        <p:nvSpPr>
          <p:cNvPr id="221" name="Text 5"/>
          <p:cNvSpPr txBox="1"/>
          <p:nvPr/>
        </p:nvSpPr>
        <p:spPr>
          <a:xfrm>
            <a:off x="868680" y="2721638"/>
            <a:ext cx="302083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VACUNOS  ·  vacas lecheras + vacunos, otros</a:t>
            </a:r>
          </a:p>
        </p:txBody>
      </p:sp>
      <p:sp>
        <p:nvSpPr>
          <p:cNvPr id="222" name="CuadroTexto 1"/>
          <p:cNvSpPr txBox="1"/>
          <p:nvPr/>
        </p:nvSpPr>
        <p:spPr>
          <a:xfrm>
            <a:off x="4452730" y="1976814"/>
            <a:ext cx="2577548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Demo Power BI</a:t>
            </a:r>
          </a:p>
        </p:txBody>
      </p:sp>
      <p:sp>
        <p:nvSpPr>
          <p:cNvPr id="223" name="Text 5"/>
          <p:cNvSpPr txBox="1"/>
          <p:nvPr/>
        </p:nvSpPr>
        <p:spPr>
          <a:xfrm>
            <a:off x="868678" y="3208684"/>
            <a:ext cx="416052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AVES  · gallinas, parrilleras + gallinas ponedoras + patos + pavos</a:t>
            </a:r>
          </a:p>
        </p:txBody>
      </p:sp>
      <p:sp>
        <p:nvSpPr>
          <p:cNvPr id="224" name="Text 5"/>
          <p:cNvSpPr txBox="1"/>
          <p:nvPr/>
        </p:nvSpPr>
        <p:spPr>
          <a:xfrm>
            <a:off x="868678" y="4136686"/>
            <a:ext cx="3020835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OVINOS / CAPRINOS</a:t>
            </a:r>
          </a:p>
        </p:txBody>
      </p:sp>
      <p:sp>
        <p:nvSpPr>
          <p:cNvPr id="225" name="Text 5"/>
          <p:cNvSpPr txBox="1"/>
          <p:nvPr/>
        </p:nvSpPr>
        <p:spPr>
          <a:xfrm>
            <a:off x="868678" y="3672685"/>
            <a:ext cx="3020835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PORCINOS  ·  porcinos, carne + porcinos, cría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640080" y="45720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8A6B9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" name="Text 1"/>
          <p:cNvSpPr txBox="1"/>
          <p:nvPr/>
        </p:nvSpPr>
        <p:spPr>
          <a:xfrm>
            <a:off x="685798" y="498393"/>
            <a:ext cx="2834644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6 · N8N</a:t>
            </a:r>
          </a:p>
        </p:txBody>
      </p:sp>
      <p:sp>
        <p:nvSpPr>
          <p:cNvPr id="229" name="Shape 2"/>
          <p:cNvSpPr/>
          <p:nvPr/>
        </p:nvSpPr>
        <p:spPr>
          <a:xfrm>
            <a:off x="3703320" y="4572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" name="Text 3"/>
          <p:cNvSpPr txBox="1"/>
          <p:nvPr/>
        </p:nvSpPr>
        <p:spPr>
          <a:xfrm>
            <a:off x="3749040" y="498393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● DEMO EN VIVO</a:t>
            </a:r>
          </a:p>
        </p:txBody>
      </p:sp>
      <p:sp>
        <p:nvSpPr>
          <p:cNvPr id="231" name="Text 4"/>
          <p:cNvSpPr txBox="1"/>
          <p:nvPr/>
        </p:nvSpPr>
        <p:spPr>
          <a:xfrm>
            <a:off x="667511" y="868679"/>
            <a:ext cx="9052561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Automatización con n8n</a:t>
            </a:r>
          </a:p>
        </p:txBody>
      </p:sp>
      <p:sp>
        <p:nvSpPr>
          <p:cNvPr id="232" name="Text 5"/>
          <p:cNvSpPr txBox="1"/>
          <p:nvPr/>
        </p:nvSpPr>
        <p:spPr>
          <a:xfrm>
            <a:off x="667511" y="1425380"/>
            <a:ext cx="996696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5B6B62"/>
                </a:solidFill>
              </a:defRPr>
            </a:lvl1pPr>
          </a:lstStyle>
          <a:p>
            <a:pPr/>
            <a:r>
              <a:t>emisiones_workflow_n8n.json — consulta MySQL y envía un resumen por Telegram</a:t>
            </a:r>
          </a:p>
        </p:txBody>
      </p:sp>
      <p:sp>
        <p:nvSpPr>
          <p:cNvPr id="233" name="Shape 6"/>
          <p:cNvSpPr/>
          <p:nvPr/>
        </p:nvSpPr>
        <p:spPr>
          <a:xfrm>
            <a:off x="621791" y="2057400"/>
            <a:ext cx="1325882" cy="105156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5B6B6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" name="Text 7"/>
          <p:cNvSpPr txBox="1"/>
          <p:nvPr/>
        </p:nvSpPr>
        <p:spPr>
          <a:xfrm>
            <a:off x="667511" y="2166619"/>
            <a:ext cx="1234442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/>
            </a:lvl1pPr>
          </a:lstStyle>
          <a:p>
            <a:pPr/>
            <a:r>
              <a:t>▶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667511" y="2606039"/>
            <a:ext cx="1234442" cy="393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1000">
                <a:solidFill>
                  <a:srgbClr val="22302A"/>
                </a:solidFill>
              </a:defRPr>
            </a:pPr>
            <a:r>
              <a:t>Ejecución</a:t>
            </a:r>
          </a:p>
          <a:p>
            <a:pPr algn="ctr">
              <a:defRPr b="1" sz="1000">
                <a:solidFill>
                  <a:srgbClr val="22302A"/>
                </a:solidFill>
              </a:defRPr>
            </a:pPr>
            <a:r>
              <a:t>manual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1993392" y="2496819"/>
            <a:ext cx="45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7" name="Shape 10"/>
          <p:cNvSpPr/>
          <p:nvPr/>
        </p:nvSpPr>
        <p:spPr>
          <a:xfrm>
            <a:off x="2084832" y="2057400"/>
            <a:ext cx="1325882" cy="105156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B5443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 11"/>
          <p:cNvSpPr txBox="1"/>
          <p:nvPr/>
        </p:nvSpPr>
        <p:spPr>
          <a:xfrm>
            <a:off x="2130551" y="2141219"/>
            <a:ext cx="1234442" cy="47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/>
            </a:lvl1pPr>
          </a:lstStyle>
          <a:p>
            <a:pPr/>
            <a:r>
              <a:t>🐮</a:t>
            </a:r>
          </a:p>
        </p:txBody>
      </p:sp>
      <p:sp>
        <p:nvSpPr>
          <p:cNvPr id="239" name="Text 12"/>
          <p:cNvSpPr txBox="1"/>
          <p:nvPr/>
        </p:nvSpPr>
        <p:spPr>
          <a:xfrm>
            <a:off x="2130551" y="2606039"/>
            <a:ext cx="123444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Vacunos</a:t>
            </a:r>
          </a:p>
        </p:txBody>
      </p:sp>
      <p:sp>
        <p:nvSpPr>
          <p:cNvPr id="240" name="Text 13"/>
          <p:cNvSpPr txBox="1"/>
          <p:nvPr/>
        </p:nvSpPr>
        <p:spPr>
          <a:xfrm>
            <a:off x="3456432" y="2496819"/>
            <a:ext cx="45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1" name="Shape 14"/>
          <p:cNvSpPr/>
          <p:nvPr/>
        </p:nvSpPr>
        <p:spPr>
          <a:xfrm>
            <a:off x="3547871" y="2057400"/>
            <a:ext cx="1325882" cy="105156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98C3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Text 15"/>
          <p:cNvSpPr txBox="1"/>
          <p:nvPr/>
        </p:nvSpPr>
        <p:spPr>
          <a:xfrm>
            <a:off x="3593591" y="2141219"/>
            <a:ext cx="1234442" cy="47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/>
            </a:lvl1pPr>
          </a:lstStyle>
          <a:p>
            <a:pPr/>
            <a:r>
              <a:t>🐔</a:t>
            </a:r>
          </a:p>
        </p:txBody>
      </p:sp>
      <p:sp>
        <p:nvSpPr>
          <p:cNvPr id="243" name="Text 16"/>
          <p:cNvSpPr txBox="1"/>
          <p:nvPr/>
        </p:nvSpPr>
        <p:spPr>
          <a:xfrm>
            <a:off x="3593591" y="2606039"/>
            <a:ext cx="123444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Aves</a:t>
            </a:r>
          </a:p>
        </p:txBody>
      </p:sp>
      <p:sp>
        <p:nvSpPr>
          <p:cNvPr id="244" name="Text 17"/>
          <p:cNvSpPr txBox="1"/>
          <p:nvPr/>
        </p:nvSpPr>
        <p:spPr>
          <a:xfrm>
            <a:off x="4919471" y="2496819"/>
            <a:ext cx="45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5" name="Shape 18"/>
          <p:cNvSpPr/>
          <p:nvPr/>
        </p:nvSpPr>
        <p:spPr>
          <a:xfrm>
            <a:off x="5010910" y="2057400"/>
            <a:ext cx="1325882" cy="105156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4F8C5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" name="Text 19"/>
          <p:cNvSpPr txBox="1"/>
          <p:nvPr/>
        </p:nvSpPr>
        <p:spPr>
          <a:xfrm>
            <a:off x="5056632" y="2141219"/>
            <a:ext cx="1234442" cy="47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/>
            </a:lvl1pPr>
          </a:lstStyle>
          <a:p>
            <a:pPr/>
            <a:r>
              <a:t>🐑</a:t>
            </a:r>
          </a:p>
        </p:txBody>
      </p:sp>
      <p:sp>
        <p:nvSpPr>
          <p:cNvPr id="247" name="Text 20"/>
          <p:cNvSpPr txBox="1"/>
          <p:nvPr/>
        </p:nvSpPr>
        <p:spPr>
          <a:xfrm>
            <a:off x="5056632" y="2606039"/>
            <a:ext cx="123444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Ovinos</a:t>
            </a:r>
          </a:p>
        </p:txBody>
      </p:sp>
      <p:sp>
        <p:nvSpPr>
          <p:cNvPr id="248" name="Text 21"/>
          <p:cNvSpPr txBox="1"/>
          <p:nvPr/>
        </p:nvSpPr>
        <p:spPr>
          <a:xfrm>
            <a:off x="6382510" y="2496819"/>
            <a:ext cx="45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" name="Shape 22"/>
          <p:cNvSpPr/>
          <p:nvPr/>
        </p:nvSpPr>
        <p:spPr>
          <a:xfrm>
            <a:off x="6473952" y="2057400"/>
            <a:ext cx="1325882" cy="105156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4F8C5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Text 23"/>
          <p:cNvSpPr txBox="1"/>
          <p:nvPr/>
        </p:nvSpPr>
        <p:spPr>
          <a:xfrm>
            <a:off x="6519671" y="2141219"/>
            <a:ext cx="1234442" cy="47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/>
            </a:lvl1pPr>
          </a:lstStyle>
          <a:p>
            <a:pPr/>
            <a:r>
              <a:t>🐐</a:t>
            </a:r>
          </a:p>
        </p:txBody>
      </p:sp>
      <p:sp>
        <p:nvSpPr>
          <p:cNvPr id="251" name="Text 24"/>
          <p:cNvSpPr txBox="1"/>
          <p:nvPr/>
        </p:nvSpPr>
        <p:spPr>
          <a:xfrm>
            <a:off x="6519671" y="2606039"/>
            <a:ext cx="123444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Caprinos</a:t>
            </a:r>
          </a:p>
        </p:txBody>
      </p:sp>
      <p:sp>
        <p:nvSpPr>
          <p:cNvPr id="252" name="Text 25"/>
          <p:cNvSpPr txBox="1"/>
          <p:nvPr/>
        </p:nvSpPr>
        <p:spPr>
          <a:xfrm>
            <a:off x="7845551" y="2496819"/>
            <a:ext cx="45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3" name="Shape 26"/>
          <p:cNvSpPr/>
          <p:nvPr/>
        </p:nvSpPr>
        <p:spPr>
          <a:xfrm>
            <a:off x="7936992" y="2057400"/>
            <a:ext cx="1325882" cy="105156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3A6B8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Text 27"/>
          <p:cNvSpPr txBox="1"/>
          <p:nvPr/>
        </p:nvSpPr>
        <p:spPr>
          <a:xfrm>
            <a:off x="7982711" y="2141219"/>
            <a:ext cx="1234443" cy="47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/>
            </a:lvl1pPr>
          </a:lstStyle>
          <a:p>
            <a:pPr/>
            <a:r>
              <a:t>🐷</a:t>
            </a:r>
          </a:p>
        </p:txBody>
      </p:sp>
      <p:sp>
        <p:nvSpPr>
          <p:cNvPr id="255" name="Text 28"/>
          <p:cNvSpPr txBox="1"/>
          <p:nvPr/>
        </p:nvSpPr>
        <p:spPr>
          <a:xfrm>
            <a:off x="7982711" y="2606039"/>
            <a:ext cx="1234443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Porcinos</a:t>
            </a:r>
          </a:p>
        </p:txBody>
      </p:sp>
      <p:sp>
        <p:nvSpPr>
          <p:cNvPr id="256" name="Text 29"/>
          <p:cNvSpPr txBox="1"/>
          <p:nvPr/>
        </p:nvSpPr>
        <p:spPr>
          <a:xfrm>
            <a:off x="9445751" y="2431219"/>
            <a:ext cx="18288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7" name="Shape 30"/>
          <p:cNvSpPr/>
          <p:nvPr/>
        </p:nvSpPr>
        <p:spPr>
          <a:xfrm>
            <a:off x="9674352" y="1965960"/>
            <a:ext cx="1737362" cy="1234440"/>
          </a:xfrm>
          <a:prstGeom prst="roundRect">
            <a:avLst>
              <a:gd name="adj" fmla="val 5926"/>
            </a:avLst>
          </a:prstGeom>
          <a:solidFill>
            <a:srgbClr val="1F9BD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8" name="Text 31"/>
          <p:cNvSpPr txBox="1"/>
          <p:nvPr/>
        </p:nvSpPr>
        <p:spPr>
          <a:xfrm>
            <a:off x="9720071" y="2054097"/>
            <a:ext cx="164592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✈</a:t>
            </a:r>
          </a:p>
        </p:txBody>
      </p:sp>
      <p:sp>
        <p:nvSpPr>
          <p:cNvPr id="259" name="Text 32"/>
          <p:cNvSpPr txBox="1"/>
          <p:nvPr/>
        </p:nvSpPr>
        <p:spPr>
          <a:xfrm>
            <a:off x="9720071" y="2534335"/>
            <a:ext cx="164592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Telegram</a:t>
            </a:r>
          </a:p>
        </p:txBody>
      </p:sp>
      <p:sp>
        <p:nvSpPr>
          <p:cNvPr id="260" name="Text 33"/>
          <p:cNvSpPr txBox="1"/>
          <p:nvPr/>
        </p:nvSpPr>
        <p:spPr>
          <a:xfrm>
            <a:off x="9720071" y="2823499"/>
            <a:ext cx="1645922" cy="196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E4F3FA"/>
                </a:solidFill>
              </a:defRPr>
            </a:lvl1pPr>
          </a:lstStyle>
          <a:p>
            <a:pPr/>
            <a:r>
              <a:t>mensaje final</a:t>
            </a:r>
          </a:p>
        </p:txBody>
      </p:sp>
      <p:sp>
        <p:nvSpPr>
          <p:cNvPr id="261" name="Text 34"/>
          <p:cNvSpPr txBox="1"/>
          <p:nvPr/>
        </p:nvSpPr>
        <p:spPr>
          <a:xfrm>
            <a:off x="667511" y="3430447"/>
            <a:ext cx="10881361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100">
                <a:solidFill>
                  <a:srgbClr val="5B6B62"/>
                </a:solidFill>
              </a:defRPr>
            </a:lvl1pPr>
          </a:lstStyle>
          <a:p>
            <a:pPr/>
            <a:r>
              <a:t>Cada nodo lanza una consulta SQL sobre dataset_fao filtrando por producto, elemento = 'Existencias' y año = 2023, agrupando por área (continente).</a:t>
            </a:r>
          </a:p>
        </p:txBody>
      </p:sp>
      <p:sp>
        <p:nvSpPr>
          <p:cNvPr id="262" name="Text 35"/>
          <p:cNvSpPr txBox="1"/>
          <p:nvPr/>
        </p:nvSpPr>
        <p:spPr>
          <a:xfrm>
            <a:off x="667511" y="3956226"/>
            <a:ext cx="539496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1F9BD1"/>
                </a:solidFill>
              </a:defRPr>
            </a:lvl1pPr>
          </a:lstStyle>
          <a:p>
            <a:pPr/>
            <a:r>
              <a:t>MENSAJE RESULTANTE EN TELEGRAM</a:t>
            </a:r>
          </a:p>
        </p:txBody>
      </p:sp>
      <p:sp>
        <p:nvSpPr>
          <p:cNvPr id="263" name="Shape 36"/>
          <p:cNvSpPr/>
          <p:nvPr/>
        </p:nvSpPr>
        <p:spPr>
          <a:xfrm>
            <a:off x="621791" y="4251959"/>
            <a:ext cx="5532123" cy="2331722"/>
          </a:xfrm>
          <a:prstGeom prst="roundRect">
            <a:avLst>
              <a:gd name="adj" fmla="val 4706"/>
            </a:avLst>
          </a:prstGeom>
          <a:solidFill>
            <a:srgbClr val="E7F3FA"/>
          </a:solidFill>
          <a:ln w="12700">
            <a:solidFill>
              <a:srgbClr val="BFE0E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" name="Text 37"/>
          <p:cNvSpPr txBox="1"/>
          <p:nvPr/>
        </p:nvSpPr>
        <p:spPr>
          <a:xfrm>
            <a:off x="868678" y="4592320"/>
            <a:ext cx="5029203" cy="1650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Resumen de 2023:</a:t>
            </a:r>
          </a:p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🐮 Vacunos: </a:t>
            </a:r>
            <a:r>
              <a:rPr b="0"/>
              <a:t>Américas: 456… Asia: 512…</a:t>
            </a:r>
          </a:p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🐷 Porcinos: </a:t>
            </a:r>
            <a:r>
              <a:rPr b="0"/>
              <a:t>Américas: 210… Asia: 890…</a:t>
            </a:r>
          </a:p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🐔 Gallinas: </a:t>
            </a:r>
            <a:r>
              <a:rPr b="0"/>
              <a:t>Américas: 3.400… Asia: 9.100…</a:t>
            </a:r>
          </a:p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🐐 Caprinos: </a:t>
            </a:r>
            <a:r>
              <a:rPr b="0"/>
              <a:t>África: 320… Asia: 610…</a:t>
            </a:r>
          </a:p>
          <a:p>
            <a:pPr>
              <a:lnSpc>
                <a:spcPct val="115000"/>
              </a:lnSpc>
              <a:defRPr b="1" sz="1000">
                <a:solidFill>
                  <a:srgbClr val="1B2E3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🐑 Ovinos: </a:t>
            </a:r>
            <a:r>
              <a:rPr b="0"/>
              <a:t>Asia: 620… África: 380…</a:t>
            </a:r>
          </a:p>
        </p:txBody>
      </p:sp>
      <p:sp>
        <p:nvSpPr>
          <p:cNvPr id="265" name="Shape 38"/>
          <p:cNvSpPr/>
          <p:nvPr/>
        </p:nvSpPr>
        <p:spPr>
          <a:xfrm>
            <a:off x="6355079" y="4251959"/>
            <a:ext cx="5212082" cy="2331722"/>
          </a:xfrm>
          <a:prstGeom prst="roundRect">
            <a:avLst>
              <a:gd name="adj" fmla="val 3922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" name="Text 39"/>
          <p:cNvSpPr txBox="1"/>
          <p:nvPr/>
        </p:nvSpPr>
        <p:spPr>
          <a:xfrm>
            <a:off x="6629400" y="4431714"/>
            <a:ext cx="4663441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D98C3F"/>
                </a:solidFill>
              </a:defRPr>
            </a:lvl1pPr>
          </a:lstStyle>
          <a:p>
            <a:pPr/>
            <a:r>
              <a:t>QUÉ DEMUESTRA</a:t>
            </a:r>
          </a:p>
        </p:txBody>
      </p:sp>
      <p:sp>
        <p:nvSpPr>
          <p:cNvPr id="267" name="Text 40"/>
          <p:cNvSpPr txBox="1"/>
          <p:nvPr/>
        </p:nvSpPr>
        <p:spPr>
          <a:xfrm>
            <a:off x="6629400" y="4870626"/>
            <a:ext cx="137161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68" name="Text 41"/>
          <p:cNvSpPr txBox="1"/>
          <p:nvPr/>
        </p:nvSpPr>
        <p:spPr>
          <a:xfrm>
            <a:off x="6858000" y="4914945"/>
            <a:ext cx="4526280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E7E2D6"/>
                </a:solidFill>
              </a:defRPr>
            </a:lvl1pPr>
          </a:lstStyle>
          <a:p>
            <a:pPr/>
            <a:r>
              <a:t>El sistema puede “vivir solo”: sin abrir Python, SQL ni Power BI, se dispara con un clic.</a:t>
            </a:r>
          </a:p>
        </p:txBody>
      </p:sp>
      <p:sp>
        <p:nvSpPr>
          <p:cNvPr id="269" name="Text 42"/>
          <p:cNvSpPr txBox="1"/>
          <p:nvPr/>
        </p:nvSpPr>
        <p:spPr>
          <a:xfrm>
            <a:off x="6629400" y="5437555"/>
            <a:ext cx="137161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70" name="Text 43"/>
          <p:cNvSpPr txBox="1"/>
          <p:nvPr/>
        </p:nvSpPr>
        <p:spPr>
          <a:xfrm>
            <a:off x="6858000" y="5481872"/>
            <a:ext cx="4526280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E7E2D6"/>
                </a:solidFill>
              </a:defRPr>
            </a:lvl1pPr>
          </a:lstStyle>
          <a:p>
            <a:pPr/>
            <a:r>
              <a:t>Consulta en tiempo real a MySQL — mismos datos que el resto del proyecto.</a:t>
            </a:r>
          </a:p>
        </p:txBody>
      </p:sp>
      <p:sp>
        <p:nvSpPr>
          <p:cNvPr id="271" name="Text 44"/>
          <p:cNvSpPr txBox="1"/>
          <p:nvPr/>
        </p:nvSpPr>
        <p:spPr>
          <a:xfrm>
            <a:off x="6629400" y="6004482"/>
            <a:ext cx="137161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72" name="Text 45"/>
          <p:cNvSpPr txBox="1"/>
          <p:nvPr/>
        </p:nvSpPr>
        <p:spPr>
          <a:xfrm>
            <a:off x="6858000" y="6048800"/>
            <a:ext cx="4526280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2000"/>
              </a:lnSpc>
              <a:defRPr sz="1000">
                <a:solidFill>
                  <a:srgbClr val="E7E2D6"/>
                </a:solidFill>
              </a:defRPr>
            </a:lvl1pPr>
          </a:lstStyle>
          <a:p>
            <a:pPr/>
            <a:r>
              <a:t>Resultado entregado donde se consume de verdad: el móvil, vía Telegram.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640080" y="457200"/>
            <a:ext cx="3383280" cy="310896"/>
          </a:xfrm>
          <a:prstGeom prst="roundRect">
            <a:avLst>
              <a:gd name="adj" fmla="val 23529"/>
            </a:avLst>
          </a:prstGeom>
          <a:solidFill>
            <a:srgbClr val="8A6B9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" name="Text 1"/>
          <p:cNvSpPr txBox="1"/>
          <p:nvPr/>
        </p:nvSpPr>
        <p:spPr>
          <a:xfrm>
            <a:off x="685799" y="498393"/>
            <a:ext cx="329184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PASO 6 · N8N · AGENTE IA</a:t>
            </a:r>
          </a:p>
        </p:txBody>
      </p:sp>
      <p:sp>
        <p:nvSpPr>
          <p:cNvPr id="276" name="Shape 2"/>
          <p:cNvSpPr/>
          <p:nvPr/>
        </p:nvSpPr>
        <p:spPr>
          <a:xfrm>
            <a:off x="4160520" y="4572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B5443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" name="Text 3"/>
          <p:cNvSpPr txBox="1"/>
          <p:nvPr/>
        </p:nvSpPr>
        <p:spPr>
          <a:xfrm>
            <a:off x="4206240" y="498393"/>
            <a:ext cx="192024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● DEMO EN VIVO</a:t>
            </a:r>
          </a:p>
        </p:txBody>
      </p:sp>
      <p:sp>
        <p:nvSpPr>
          <p:cNvPr id="278" name="Text 4"/>
          <p:cNvSpPr txBox="1"/>
          <p:nvPr/>
        </p:nvSpPr>
        <p:spPr>
          <a:xfrm>
            <a:off x="667511" y="906779"/>
            <a:ext cx="10881361" cy="47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500">
                <a:solidFill>
                  <a:srgbClr val="223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Automatización con n8n — agente conversacional</a:t>
            </a:r>
          </a:p>
        </p:txBody>
      </p:sp>
      <p:sp>
        <p:nvSpPr>
          <p:cNvPr id="279" name="Text 5"/>
          <p:cNvSpPr txBox="1"/>
          <p:nvPr/>
        </p:nvSpPr>
        <p:spPr>
          <a:xfrm>
            <a:off x="667511" y="1430328"/>
            <a:ext cx="1078992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5B6B62"/>
                </a:solidFill>
              </a:defRPr>
            </a:lvl1pPr>
          </a:lstStyle>
          <a:p>
            <a:pPr/>
            <a:r>
              <a:t>emisiones_agente.json — chatbot en Telegram que traduce preguntas en lenguaje natural a SQL con un LLM</a:t>
            </a:r>
          </a:p>
        </p:txBody>
      </p:sp>
      <p:sp>
        <p:nvSpPr>
          <p:cNvPr id="280" name="Shape 6"/>
          <p:cNvSpPr/>
          <p:nvPr/>
        </p:nvSpPr>
        <p:spPr>
          <a:xfrm>
            <a:off x="621791" y="1874520"/>
            <a:ext cx="1508762" cy="960122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F9BD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" name="Text 7"/>
          <p:cNvSpPr txBox="1"/>
          <p:nvPr/>
        </p:nvSpPr>
        <p:spPr>
          <a:xfrm>
            <a:off x="667511" y="1951482"/>
            <a:ext cx="1417323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pPr/>
            <a:r>
              <a:t>✈</a:t>
            </a:r>
          </a:p>
        </p:txBody>
      </p:sp>
      <p:sp>
        <p:nvSpPr>
          <p:cNvPr id="282" name="Text 8"/>
          <p:cNvSpPr txBox="1"/>
          <p:nvPr/>
        </p:nvSpPr>
        <p:spPr>
          <a:xfrm>
            <a:off x="667511" y="2226355"/>
            <a:ext cx="1417323" cy="39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000">
                <a:solidFill>
                  <a:srgbClr val="22302A"/>
                </a:solidFill>
              </a:defRPr>
            </a:pPr>
            <a:r>
              <a:t>Telegram</a:t>
            </a:r>
          </a:p>
          <a:p>
            <a:pPr algn="ctr">
              <a:defRPr b="1" sz="1000">
                <a:solidFill>
                  <a:srgbClr val="22302A"/>
                </a:solidFill>
              </a:defRPr>
            </a:pPr>
            <a:r>
              <a:t>Trigger</a:t>
            </a:r>
          </a:p>
        </p:txBody>
      </p:sp>
      <p:sp>
        <p:nvSpPr>
          <p:cNvPr id="283" name="Text 9"/>
          <p:cNvSpPr txBox="1"/>
          <p:nvPr/>
        </p:nvSpPr>
        <p:spPr>
          <a:xfrm>
            <a:off x="713231" y="2558699"/>
            <a:ext cx="1325882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pPr/>
            <a:r>
              <a:t>cualquier mensaje</a:t>
            </a:r>
          </a:p>
        </p:txBody>
      </p:sp>
      <p:sp>
        <p:nvSpPr>
          <p:cNvPr id="284" name="Text 10"/>
          <p:cNvSpPr txBox="1"/>
          <p:nvPr/>
        </p:nvSpPr>
        <p:spPr>
          <a:xfrm>
            <a:off x="2194560" y="2192721"/>
            <a:ext cx="228602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5" name="Shape 11"/>
          <p:cNvSpPr/>
          <p:nvPr/>
        </p:nvSpPr>
        <p:spPr>
          <a:xfrm>
            <a:off x="2487166" y="1783078"/>
            <a:ext cx="2148842" cy="1143002"/>
          </a:xfrm>
          <a:prstGeom prst="roundRect">
            <a:avLst>
              <a:gd name="adj" fmla="val 6400"/>
            </a:avLst>
          </a:prstGeom>
          <a:solidFill>
            <a:srgbClr val="8A6B9C"/>
          </a:solidFill>
          <a:ln w="12700">
            <a:solidFill>
              <a:srgbClr val="8A6B9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" name="Text 12"/>
          <p:cNvSpPr txBox="1"/>
          <p:nvPr/>
        </p:nvSpPr>
        <p:spPr>
          <a:xfrm>
            <a:off x="2532888" y="1815591"/>
            <a:ext cx="2057401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🤖</a:t>
            </a:r>
          </a:p>
        </p:txBody>
      </p:sp>
      <p:sp>
        <p:nvSpPr>
          <p:cNvPr id="287" name="Text 13"/>
          <p:cNvSpPr txBox="1"/>
          <p:nvPr/>
        </p:nvSpPr>
        <p:spPr>
          <a:xfrm>
            <a:off x="2532888" y="2217465"/>
            <a:ext cx="2057401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AI Agent</a:t>
            </a:r>
          </a:p>
        </p:txBody>
      </p:sp>
      <p:sp>
        <p:nvSpPr>
          <p:cNvPr id="288" name="Text 14"/>
          <p:cNvSpPr txBox="1"/>
          <p:nvPr/>
        </p:nvSpPr>
        <p:spPr>
          <a:xfrm>
            <a:off x="2578607" y="2467259"/>
            <a:ext cx="1965962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E4F3FA"/>
                </a:solidFill>
              </a:defRPr>
            </a:lvl1pPr>
          </a:lstStyle>
          <a:p>
            <a:pPr/>
            <a:r>
              <a:t>GPT-5-mini · agente ReAct</a:t>
            </a:r>
          </a:p>
        </p:txBody>
      </p:sp>
      <p:sp>
        <p:nvSpPr>
          <p:cNvPr id="289" name="Text 15"/>
          <p:cNvSpPr txBox="1"/>
          <p:nvPr/>
        </p:nvSpPr>
        <p:spPr>
          <a:xfrm>
            <a:off x="4700015" y="2192721"/>
            <a:ext cx="228602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500">
                <a:solidFill>
                  <a:srgbClr val="AFA89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90" name="Shape 16"/>
          <p:cNvSpPr/>
          <p:nvPr/>
        </p:nvSpPr>
        <p:spPr>
          <a:xfrm>
            <a:off x="4992623" y="1874520"/>
            <a:ext cx="1600202" cy="960122"/>
          </a:xfrm>
          <a:prstGeom prst="roundRect">
            <a:avLst>
              <a:gd name="adj" fmla="val 7619"/>
            </a:avLst>
          </a:prstGeom>
          <a:solidFill>
            <a:srgbClr val="1F9BD1"/>
          </a:solidFill>
          <a:ln w="12700">
            <a:solidFill>
              <a:srgbClr val="1F9BD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1" name="Text 17"/>
          <p:cNvSpPr txBox="1"/>
          <p:nvPr/>
        </p:nvSpPr>
        <p:spPr>
          <a:xfrm>
            <a:off x="5038344" y="1951482"/>
            <a:ext cx="150876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✈</a:t>
            </a:r>
          </a:p>
        </p:txBody>
      </p:sp>
      <p:sp>
        <p:nvSpPr>
          <p:cNvPr id="292" name="Text 18"/>
          <p:cNvSpPr txBox="1"/>
          <p:nvPr/>
        </p:nvSpPr>
        <p:spPr>
          <a:xfrm>
            <a:off x="5038344" y="2308905"/>
            <a:ext cx="150876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Telegram</a:t>
            </a:r>
          </a:p>
        </p:txBody>
      </p:sp>
      <p:sp>
        <p:nvSpPr>
          <p:cNvPr id="293" name="Text 19"/>
          <p:cNvSpPr txBox="1"/>
          <p:nvPr/>
        </p:nvSpPr>
        <p:spPr>
          <a:xfrm>
            <a:off x="5084064" y="2558699"/>
            <a:ext cx="1417322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E4F3FA"/>
                </a:solidFill>
              </a:defRPr>
            </a:lvl1pPr>
          </a:lstStyle>
          <a:p>
            <a:pPr/>
            <a:r>
              <a:t>respuesta al chat</a:t>
            </a:r>
          </a:p>
        </p:txBody>
      </p:sp>
      <p:sp>
        <p:nvSpPr>
          <p:cNvPr id="294" name="Shape 20"/>
          <p:cNvSpPr/>
          <p:nvPr/>
        </p:nvSpPr>
        <p:spPr>
          <a:xfrm>
            <a:off x="2834639" y="2926078"/>
            <a:ext cx="726950" cy="457203"/>
          </a:xfrm>
          <a:prstGeom prst="line">
            <a:avLst/>
          </a:prstGeom>
          <a:ln w="15875">
            <a:solidFill>
              <a:srgbClr val="AFA89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" name="Shape 21"/>
          <p:cNvSpPr/>
          <p:nvPr/>
        </p:nvSpPr>
        <p:spPr>
          <a:xfrm>
            <a:off x="3561587" y="2926078"/>
            <a:ext cx="1376173" cy="457204"/>
          </a:xfrm>
          <a:prstGeom prst="line">
            <a:avLst/>
          </a:prstGeom>
          <a:ln w="15875">
            <a:solidFill>
              <a:srgbClr val="AFA89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6" name="Shape 22"/>
          <p:cNvSpPr/>
          <p:nvPr/>
        </p:nvSpPr>
        <p:spPr>
          <a:xfrm>
            <a:off x="3561588" y="2926079"/>
            <a:ext cx="3479294" cy="457201"/>
          </a:xfrm>
          <a:prstGeom prst="line">
            <a:avLst/>
          </a:prstGeom>
          <a:ln w="15875">
            <a:solidFill>
              <a:srgbClr val="AFA89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7" name="Shape 23"/>
          <p:cNvSpPr/>
          <p:nvPr/>
        </p:nvSpPr>
        <p:spPr>
          <a:xfrm>
            <a:off x="1874520" y="3383279"/>
            <a:ext cx="1920242" cy="86868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D98C3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" name="Text 24"/>
          <p:cNvSpPr txBox="1"/>
          <p:nvPr/>
        </p:nvSpPr>
        <p:spPr>
          <a:xfrm>
            <a:off x="1920239" y="3415792"/>
            <a:ext cx="1828802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pPr/>
            <a:r>
              <a:t>🧠</a:t>
            </a:r>
          </a:p>
        </p:txBody>
      </p:sp>
      <p:sp>
        <p:nvSpPr>
          <p:cNvPr id="299" name="Text 25"/>
          <p:cNvSpPr txBox="1"/>
          <p:nvPr/>
        </p:nvSpPr>
        <p:spPr>
          <a:xfrm>
            <a:off x="1920239" y="3817664"/>
            <a:ext cx="18288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OpenAI Chat Model</a:t>
            </a:r>
          </a:p>
        </p:txBody>
      </p:sp>
      <p:sp>
        <p:nvSpPr>
          <p:cNvPr id="300" name="Text 26"/>
          <p:cNvSpPr txBox="1"/>
          <p:nvPr/>
        </p:nvSpPr>
        <p:spPr>
          <a:xfrm>
            <a:off x="1965960" y="4067460"/>
            <a:ext cx="1737362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pPr/>
            <a:r>
              <a:t>gpt-5-mini</a:t>
            </a:r>
          </a:p>
        </p:txBody>
      </p:sp>
      <p:sp>
        <p:nvSpPr>
          <p:cNvPr id="301" name="Shape 27"/>
          <p:cNvSpPr/>
          <p:nvPr/>
        </p:nvSpPr>
        <p:spPr>
          <a:xfrm>
            <a:off x="3977640" y="3383279"/>
            <a:ext cx="1920242" cy="86868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4F8C5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" name="Text 28"/>
          <p:cNvSpPr txBox="1"/>
          <p:nvPr/>
        </p:nvSpPr>
        <p:spPr>
          <a:xfrm>
            <a:off x="4023359" y="3415792"/>
            <a:ext cx="1828802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pPr/>
            <a:r>
              <a:t>💬</a:t>
            </a:r>
          </a:p>
        </p:txBody>
      </p:sp>
      <p:sp>
        <p:nvSpPr>
          <p:cNvPr id="303" name="Text 29"/>
          <p:cNvSpPr txBox="1"/>
          <p:nvPr/>
        </p:nvSpPr>
        <p:spPr>
          <a:xfrm>
            <a:off x="4023359" y="3817664"/>
            <a:ext cx="18288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Simple Memory</a:t>
            </a:r>
          </a:p>
        </p:txBody>
      </p:sp>
      <p:sp>
        <p:nvSpPr>
          <p:cNvPr id="304" name="Text 30"/>
          <p:cNvSpPr txBox="1"/>
          <p:nvPr/>
        </p:nvSpPr>
        <p:spPr>
          <a:xfrm>
            <a:off x="4069079" y="4067460"/>
            <a:ext cx="1737362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pPr/>
            <a:r>
              <a:t>1 sesión por usuario Telegram</a:t>
            </a:r>
          </a:p>
        </p:txBody>
      </p:sp>
      <p:sp>
        <p:nvSpPr>
          <p:cNvPr id="305" name="Shape 31"/>
          <p:cNvSpPr/>
          <p:nvPr/>
        </p:nvSpPr>
        <p:spPr>
          <a:xfrm>
            <a:off x="6080759" y="3383279"/>
            <a:ext cx="1920241" cy="86868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3A6B8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" name="Text 32"/>
          <p:cNvSpPr txBox="1"/>
          <p:nvPr/>
        </p:nvSpPr>
        <p:spPr>
          <a:xfrm>
            <a:off x="6126479" y="3415792"/>
            <a:ext cx="1828802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22302A"/>
                </a:solidFill>
              </a:defRPr>
            </a:lvl1pPr>
          </a:lstStyle>
          <a:p>
            <a:pPr/>
            <a:r>
              <a:t>🗄</a:t>
            </a:r>
          </a:p>
        </p:txBody>
      </p:sp>
      <p:sp>
        <p:nvSpPr>
          <p:cNvPr id="307" name="Text 33"/>
          <p:cNvSpPr txBox="1"/>
          <p:nvPr/>
        </p:nvSpPr>
        <p:spPr>
          <a:xfrm>
            <a:off x="6126479" y="3817664"/>
            <a:ext cx="18288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000">
                <a:solidFill>
                  <a:srgbClr val="22302A"/>
                </a:solidFill>
              </a:defRPr>
            </a:lvl1pPr>
          </a:lstStyle>
          <a:p>
            <a:pPr/>
            <a:r>
              <a:t>execute_query</a:t>
            </a:r>
          </a:p>
        </p:txBody>
      </p:sp>
      <p:sp>
        <p:nvSpPr>
          <p:cNvPr id="308" name="Text 34"/>
          <p:cNvSpPr txBox="1"/>
          <p:nvPr/>
        </p:nvSpPr>
        <p:spPr>
          <a:xfrm>
            <a:off x="6172200" y="4067460"/>
            <a:ext cx="1737362" cy="18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5B6B62"/>
                </a:solidFill>
              </a:defRPr>
            </a:lvl1pPr>
          </a:lstStyle>
          <a:p>
            <a:pPr/>
            <a:r>
              <a:t>tool MySQL — SELECT sobre dataset_fao</a:t>
            </a:r>
          </a:p>
        </p:txBody>
      </p:sp>
      <p:sp>
        <p:nvSpPr>
          <p:cNvPr id="309" name="Text 35"/>
          <p:cNvSpPr txBox="1"/>
          <p:nvPr/>
        </p:nvSpPr>
        <p:spPr>
          <a:xfrm>
            <a:off x="667511" y="4495721"/>
            <a:ext cx="539496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50" sz="1100">
                <a:solidFill>
                  <a:srgbClr val="1F9BD1"/>
                </a:solidFill>
              </a:defRPr>
            </a:lvl1pPr>
          </a:lstStyle>
          <a:p>
            <a:pPr/>
            <a:r>
              <a:t>EJEMPLO DE CONVERSACIÓN</a:t>
            </a:r>
          </a:p>
        </p:txBody>
      </p:sp>
      <p:sp>
        <p:nvSpPr>
          <p:cNvPr id="310" name="Shape 36"/>
          <p:cNvSpPr/>
          <p:nvPr/>
        </p:nvSpPr>
        <p:spPr>
          <a:xfrm>
            <a:off x="621791" y="4773167"/>
            <a:ext cx="5532123" cy="1810514"/>
          </a:xfrm>
          <a:prstGeom prst="roundRect">
            <a:avLst>
              <a:gd name="adj" fmla="val 6061"/>
            </a:avLst>
          </a:prstGeom>
          <a:solidFill>
            <a:srgbClr val="E7F3FA"/>
          </a:solidFill>
          <a:ln w="12700">
            <a:solidFill>
              <a:srgbClr val="BFE0E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" name="Shape 37"/>
          <p:cNvSpPr/>
          <p:nvPr/>
        </p:nvSpPr>
        <p:spPr>
          <a:xfrm>
            <a:off x="841247" y="4937759"/>
            <a:ext cx="3931923" cy="457202"/>
          </a:xfrm>
          <a:prstGeom prst="roundRect">
            <a:avLst>
              <a:gd name="adj" fmla="val 30000"/>
            </a:avLst>
          </a:prstGeom>
          <a:solidFill>
            <a:srgbClr val="1F9BD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" name="Text 38"/>
          <p:cNvSpPr txBox="1"/>
          <p:nvPr/>
        </p:nvSpPr>
        <p:spPr>
          <a:xfrm>
            <a:off x="1005838" y="5063403"/>
            <a:ext cx="3611883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¿Cuántas vacas lecheras había en Asia en 2023?</a:t>
            </a:r>
          </a:p>
        </p:txBody>
      </p:sp>
      <p:sp>
        <p:nvSpPr>
          <p:cNvPr id="313" name="Shape 39"/>
          <p:cNvSpPr/>
          <p:nvPr/>
        </p:nvSpPr>
        <p:spPr>
          <a:xfrm>
            <a:off x="1463038" y="5486400"/>
            <a:ext cx="4480562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E0E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4" name="Text 40"/>
          <p:cNvSpPr txBox="1"/>
          <p:nvPr/>
        </p:nvSpPr>
        <p:spPr>
          <a:xfrm>
            <a:off x="1645918" y="5712355"/>
            <a:ext cx="4114803" cy="50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1B2E38"/>
                </a:solidFill>
              </a:defRPr>
            </a:lvl1pPr>
          </a:lstStyle>
          <a:p>
            <a:pPr/>
            <a:r>
              <a:t>Según los datos de FAOSTAT, en 2023 Asia registraba del orden de 150 millones de cabezas de vacas lecheras (dato oficial). ¿Quieres que lo compare con otro continente o año?</a:t>
            </a:r>
          </a:p>
        </p:txBody>
      </p:sp>
      <p:sp>
        <p:nvSpPr>
          <p:cNvPr id="315" name="Shape 41"/>
          <p:cNvSpPr/>
          <p:nvPr/>
        </p:nvSpPr>
        <p:spPr>
          <a:xfrm>
            <a:off x="6355079" y="4480559"/>
            <a:ext cx="5212082" cy="2103122"/>
          </a:xfrm>
          <a:prstGeom prst="roundRect">
            <a:avLst>
              <a:gd name="adj" fmla="val 4348"/>
            </a:avLst>
          </a:prstGeom>
          <a:solidFill>
            <a:srgbClr val="1F3A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6" name="Text 42"/>
          <p:cNvSpPr txBox="1"/>
          <p:nvPr/>
        </p:nvSpPr>
        <p:spPr>
          <a:xfrm>
            <a:off x="6629400" y="4709204"/>
            <a:ext cx="4663441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" sz="1000">
                <a:solidFill>
                  <a:srgbClr val="D98C3F"/>
                </a:solidFill>
              </a:defRPr>
            </a:lvl1pPr>
          </a:lstStyle>
          <a:p>
            <a:pPr/>
            <a:r>
              <a:t>QUÉ DEMUESTRA — Y EN QUÉ SE DIFERENCIA DEL OTRO WORKFLOW</a:t>
            </a:r>
          </a:p>
        </p:txBody>
      </p:sp>
      <p:sp>
        <p:nvSpPr>
          <p:cNvPr id="317" name="Text 43"/>
          <p:cNvSpPr txBox="1"/>
          <p:nvPr/>
        </p:nvSpPr>
        <p:spPr>
          <a:xfrm>
            <a:off x="6629400" y="5190667"/>
            <a:ext cx="137161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18" name="Text 44"/>
          <p:cNvSpPr txBox="1"/>
          <p:nvPr/>
        </p:nvSpPr>
        <p:spPr>
          <a:xfrm>
            <a:off x="6858000" y="5122721"/>
            <a:ext cx="4526280" cy="40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7E2D6"/>
                </a:solidFill>
              </a:defRPr>
            </a:lvl1pPr>
          </a:lstStyle>
          <a:p>
            <a:pPr/>
            <a:r>
              <a:t>El SQL no está escrito a mano: lo genera el LLM en cada turno según lo que se le pregunte.</a:t>
            </a:r>
          </a:p>
        </p:txBody>
      </p:sp>
      <p:sp>
        <p:nvSpPr>
          <p:cNvPr id="319" name="Text 45"/>
          <p:cNvSpPr txBox="1"/>
          <p:nvPr/>
        </p:nvSpPr>
        <p:spPr>
          <a:xfrm>
            <a:off x="6629400" y="5702730"/>
            <a:ext cx="137161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20" name="Text 46"/>
          <p:cNvSpPr txBox="1"/>
          <p:nvPr/>
        </p:nvSpPr>
        <p:spPr>
          <a:xfrm>
            <a:off x="6858000" y="5724188"/>
            <a:ext cx="4526280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7E2D6"/>
                </a:solidFill>
              </a:defRPr>
            </a:lvl1pPr>
          </a:lstStyle>
          <a:p>
            <a:pPr/>
            <a:r>
              <a:t>Mantiene contexto de conversación por usuario (memoria por chatId de Telegram).</a:t>
            </a:r>
          </a:p>
        </p:txBody>
      </p:sp>
      <p:sp>
        <p:nvSpPr>
          <p:cNvPr id="321" name="Text 47"/>
          <p:cNvSpPr txBox="1"/>
          <p:nvPr/>
        </p:nvSpPr>
        <p:spPr>
          <a:xfrm>
            <a:off x="6629400" y="6214793"/>
            <a:ext cx="137161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6E8578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22" name="Text 48"/>
          <p:cNvSpPr txBox="1"/>
          <p:nvPr/>
        </p:nvSpPr>
        <p:spPr>
          <a:xfrm>
            <a:off x="6858000" y="6146849"/>
            <a:ext cx="4526280" cy="40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E7E2D6"/>
                </a:solidFill>
              </a:defRPr>
            </a:lvl1pPr>
          </a:lstStyle>
          <a:p>
            <a:pPr/>
            <a:r>
              <a:t>El system prompt fija barandillas: solo SELECT, sin mezclar unidades, sin inventar datos.</a:t>
            </a:r>
          </a:p>
        </p:txBody>
      </p:sp>
      <p:sp>
        <p:nvSpPr>
          <p:cNvPr id="323" name="Text 50"/>
          <p:cNvSpPr txBox="1"/>
          <p:nvPr/>
        </p:nvSpPr>
        <p:spPr>
          <a:xfrm>
            <a:off x="667511" y="6444147"/>
            <a:ext cx="10881361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900">
                <a:solidFill>
                  <a:srgbClr val="5B6B62"/>
                </a:solidFill>
              </a:defRPr>
            </a:lvl1pPr>
          </a:lstStyle>
          <a:p>
            <a:pPr/>
            <a:r>
              <a:t>Mismo bot de Telegram, dos automatizaciones: la anterior empuja un resumen fijo; esta responde bajo demanda a cualquier pregunta sobre el dataset.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Image 0" descr="Image 0"/>
          <p:cNvPicPr>
            <a:picLocks noChangeAspect="1"/>
          </p:cNvPicPr>
          <p:nvPr/>
        </p:nvPicPr>
        <p:blipFill>
          <a:blip r:embed="rId2">
            <a:alphaModFix amt="45000"/>
            <a:extLst/>
          </a:blip>
          <a:stretch>
            <a:fillRect/>
          </a:stretch>
        </p:blipFill>
        <p:spPr>
          <a:xfrm>
            <a:off x="564036" y="174593"/>
            <a:ext cx="2006962" cy="2006961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Text 1"/>
          <p:cNvSpPr txBox="1"/>
          <p:nvPr/>
        </p:nvSpPr>
        <p:spPr>
          <a:xfrm>
            <a:off x="868680" y="2767330"/>
            <a:ext cx="8138160" cy="866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5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¡Muchas gracias!</a:t>
            </a:r>
          </a:p>
        </p:txBody>
      </p:sp>
      <p:sp>
        <p:nvSpPr>
          <p:cNvPr id="327" name="Text 2"/>
          <p:cNvSpPr txBox="1"/>
          <p:nvPr/>
        </p:nvSpPr>
        <p:spPr>
          <a:xfrm>
            <a:off x="886967" y="3781624"/>
            <a:ext cx="81381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FE0D4"/>
                </a:solidFill>
              </a:defRPr>
            </a:lvl1pPr>
          </a:lstStyle>
          <a:p>
            <a:pPr/>
            <a:r>
              <a:t>Proyecto — Emisiones del sector ganadero mundial</a:t>
            </a:r>
          </a:p>
        </p:txBody>
      </p:sp>
      <p:pic>
        <p:nvPicPr>
          <p:cNvPr id="328" name="images.jpeg" descr="images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63175" y="329970"/>
            <a:ext cx="4096996" cy="27472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