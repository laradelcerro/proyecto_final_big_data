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678862" y="-2326440"/>
            <a:ext cx="6400801" cy="6400801"/>
          </a:xfrm>
          <a:prstGeom prst="ellipse">
            <a:avLst/>
          </a:prstGeom>
          <a:solidFill>
            <a:srgbClr val="16281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9692640" y="-1280161"/>
            <a:ext cx="4754881" cy="4754881"/>
          </a:xfrm>
          <a:prstGeom prst="ellipse">
            <a:avLst/>
          </a:prstGeom>
          <a:ln w="19050">
            <a:solidFill>
              <a:srgbClr val="2E544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10515600" y="-457200"/>
            <a:ext cx="3108961" cy="3108961"/>
          </a:xfrm>
          <a:prstGeom prst="ellipse">
            <a:avLst/>
          </a:prstGeom>
          <a:ln w="19050">
            <a:solidFill>
              <a:srgbClr val="2E5443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3"/>
          <p:cNvSpPr/>
          <p:nvPr/>
        </p:nvSpPr>
        <p:spPr>
          <a:xfrm>
            <a:off x="1481327" y="621791"/>
            <a:ext cx="4846322" cy="310897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" name="Text 4"/>
          <p:cNvSpPr txBox="1"/>
          <p:nvPr/>
        </p:nvSpPr>
        <p:spPr>
          <a:xfrm>
            <a:off x="1527047" y="662984"/>
            <a:ext cx="47548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TRABAJO FINAL · CURSO DE ANÁLISIS DE DATOS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79" y="1517650"/>
            <a:ext cx="8686801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Proyecto: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67512" y="2204328"/>
            <a:ext cx="850392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CFE0D4"/>
                </a:solidFill>
              </a:defRPr>
            </a:lvl1pPr>
          </a:lstStyle>
          <a:p>
            <a:r>
              <a:t>Emisiones del sector ganadero mundial (1961–2023)</a:t>
            </a:r>
          </a:p>
        </p:txBody>
      </p:sp>
      <p:sp>
        <p:nvSpPr>
          <p:cNvPr id="28" name="Shape 7"/>
          <p:cNvSpPr/>
          <p:nvPr/>
        </p:nvSpPr>
        <p:spPr>
          <a:xfrm>
            <a:off x="594359" y="2816351"/>
            <a:ext cx="7223761" cy="1965961"/>
          </a:xfrm>
          <a:prstGeom prst="roundRect">
            <a:avLst>
              <a:gd name="adj" fmla="val 3721"/>
            </a:avLst>
          </a:prstGeom>
          <a:solidFill>
            <a:srgbClr val="16281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8"/>
          <p:cNvSpPr txBox="1"/>
          <p:nvPr/>
        </p:nvSpPr>
        <p:spPr>
          <a:xfrm>
            <a:off x="827531" y="3038577"/>
            <a:ext cx="6629401" cy="205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6000"/>
              </a:lnSpc>
              <a:defRPr sz="1300" b="1">
                <a:solidFill>
                  <a:srgbClr val="E8A79B"/>
                </a:solidFill>
              </a:defRPr>
            </a:pPr>
            <a:r>
              <a:t>¿Por qué este tema?  </a:t>
            </a:r>
            <a:r>
              <a:rPr b="0" i="1">
                <a:solidFill>
                  <a:srgbClr val="E7E2D6"/>
                </a:solidFill>
              </a:rPr>
              <a:t>Creo que mucha gente no es consciente del impacto del sector ganadero en las emisiones de CO2 y de que, por tanto, haciendo pequeños cambios de alimentación, como reducir la ingesta de carne, podemos ayudar, aunque sea un poco, a este planeta del que no somos más que inquilinos: lo compartimos con miles de especies y solemos olvidarlo.</a:t>
            </a:r>
          </a:p>
          <a:p>
            <a:pPr>
              <a:lnSpc>
                <a:spcPct val="116000"/>
              </a:lnSpc>
              <a:defRPr sz="1200" b="1">
                <a:solidFill>
                  <a:srgbClr val="E8A79B"/>
                </a:solidFill>
              </a:defRPr>
            </a:pPr>
            <a:endParaRPr b="0" i="1">
              <a:solidFill>
                <a:srgbClr val="E7E2D6"/>
              </a:solidFill>
            </a:endParaRPr>
          </a:p>
          <a:p>
            <a:pPr>
              <a:lnSpc>
                <a:spcPct val="116000"/>
              </a:lnSpc>
              <a:defRPr sz="1300" b="1">
                <a:solidFill>
                  <a:srgbClr val="E8A79B"/>
                </a:solidFill>
              </a:defRPr>
            </a:pPr>
            <a:r>
              <a:rPr i="1">
                <a:solidFill>
                  <a:srgbClr val="E7E2D6"/>
                </a:solidFill>
              </a:rPr>
              <a:t>Según la FAO, la ganadería es responsable de entre 12% - 14,5% de gases de efecto invernadero.</a:t>
            </a:r>
            <a:endParaRPr b="0" i="1">
              <a:solidFill>
                <a:srgbClr val="E7E2D6"/>
              </a:solidFill>
            </a:endParaRPr>
          </a:p>
          <a:p>
            <a:pPr>
              <a:lnSpc>
                <a:spcPct val="116000"/>
              </a:lnSpc>
              <a:defRPr sz="1200" b="1">
                <a:solidFill>
                  <a:srgbClr val="E8A79B"/>
                </a:solidFill>
              </a:defRPr>
            </a:pPr>
            <a:endParaRPr b="0" i="1">
              <a:solidFill>
                <a:srgbClr val="E7E2D6"/>
              </a:solidFill>
            </a:endParaRPr>
          </a:p>
        </p:txBody>
      </p:sp>
      <p:sp>
        <p:nvSpPr>
          <p:cNvPr id="30" name="Text 9"/>
          <p:cNvSpPr txBox="1"/>
          <p:nvPr/>
        </p:nvSpPr>
        <p:spPr>
          <a:xfrm>
            <a:off x="667511" y="4954962"/>
            <a:ext cx="69494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CFE0D4"/>
                </a:solidFill>
              </a:defRPr>
            </a:pPr>
            <a:r>
              <a:t>Fuente de datos:  </a:t>
            </a:r>
            <a:r>
              <a:rPr b="0">
                <a:solidFill>
                  <a:srgbClr val="9FB6A8"/>
                </a:solidFill>
              </a:rPr>
              <a:t>FAOSTAT — Emisiones derivadas del sector ganadero (FAO)</a:t>
            </a:r>
          </a:p>
        </p:txBody>
      </p:sp>
      <p:sp>
        <p:nvSpPr>
          <p:cNvPr id="31" name="Text 10"/>
          <p:cNvSpPr txBox="1"/>
          <p:nvPr/>
        </p:nvSpPr>
        <p:spPr>
          <a:xfrm>
            <a:off x="667511" y="5225840"/>
            <a:ext cx="6949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i="1">
                <a:solidFill>
                  <a:srgbClr val="6E8578"/>
                </a:solidFill>
              </a:defRPr>
            </a:lvl1pPr>
          </a:lstStyle>
          <a:p>
            <a:r>
              <a:t>fao.org/faostat/es/#data/GLE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667511" y="5628639"/>
            <a:ext cx="219456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 b="1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5</a:t>
            </a:r>
          </a:p>
        </p:txBody>
      </p:sp>
      <p:sp>
        <p:nvSpPr>
          <p:cNvPr id="33" name="Text 12"/>
          <p:cNvSpPr txBox="1"/>
          <p:nvPr/>
        </p:nvSpPr>
        <p:spPr>
          <a:xfrm>
            <a:off x="667511" y="6080759"/>
            <a:ext cx="219456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9FB6A8"/>
                </a:solidFill>
              </a:defRPr>
            </a:pPr>
            <a:r>
              <a:t>ficheros CSV</a:t>
            </a:r>
          </a:p>
          <a:p>
            <a:pPr>
              <a:defRPr sz="1000">
                <a:solidFill>
                  <a:srgbClr val="9FB6A8"/>
                </a:solidFill>
              </a:defRPr>
            </a:pPr>
            <a:r>
              <a:t>(por continente)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3090672" y="5628639"/>
            <a:ext cx="21945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 b="1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77.491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3090672" y="6080759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FB6A8"/>
                </a:solidFill>
              </a:defRPr>
            </a:lvl1pPr>
          </a:lstStyle>
          <a:p>
            <a:r>
              <a:t>registros combinados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5513832" y="5628639"/>
            <a:ext cx="21945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 b="1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1961–2023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5513832" y="6080759"/>
            <a:ext cx="2194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FB6A8"/>
                </a:solidFill>
              </a:defRPr>
            </a:lvl1pPr>
          </a:lstStyle>
          <a:p>
            <a:r>
              <a:t>63 años de histórico</a:t>
            </a:r>
          </a:p>
        </p:txBody>
      </p:sp>
      <p:sp>
        <p:nvSpPr>
          <p:cNvPr id="38" name="Shape 17"/>
          <p:cNvSpPr/>
          <p:nvPr/>
        </p:nvSpPr>
        <p:spPr>
          <a:xfrm>
            <a:off x="8275319" y="2468879"/>
            <a:ext cx="3246121" cy="3703321"/>
          </a:xfrm>
          <a:prstGeom prst="roundRect">
            <a:avLst>
              <a:gd name="adj" fmla="val 2817"/>
            </a:avLst>
          </a:prstGeom>
          <a:solidFill>
            <a:srgbClr val="17291F"/>
          </a:solidFill>
          <a:ln w="12700">
            <a:solidFill>
              <a:srgbClr val="2E544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18"/>
          <p:cNvSpPr txBox="1"/>
          <p:nvPr/>
        </p:nvSpPr>
        <p:spPr>
          <a:xfrm>
            <a:off x="8549639" y="2676066"/>
            <a:ext cx="2743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B5443A"/>
                </a:solidFill>
              </a:defRPr>
            </a:lvl1pPr>
          </a:lstStyle>
          <a:p>
            <a:r>
              <a:t>EL PIPELINE</a:t>
            </a:r>
          </a:p>
        </p:txBody>
      </p:sp>
      <p:sp>
        <p:nvSpPr>
          <p:cNvPr id="40" name="Shape 19"/>
          <p:cNvSpPr/>
          <p:nvPr/>
        </p:nvSpPr>
        <p:spPr>
          <a:xfrm>
            <a:off x="8503919" y="3063239"/>
            <a:ext cx="365761" cy="365761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Text 20"/>
          <p:cNvSpPr txBox="1"/>
          <p:nvPr/>
        </p:nvSpPr>
        <p:spPr>
          <a:xfrm>
            <a:off x="8549639" y="3121967"/>
            <a:ext cx="274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42" name="Text 21"/>
          <p:cNvSpPr txBox="1"/>
          <p:nvPr/>
        </p:nvSpPr>
        <p:spPr>
          <a:xfrm>
            <a:off x="9052559" y="3117019"/>
            <a:ext cx="22860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r>
              <a:t>Recoger</a:t>
            </a:r>
          </a:p>
        </p:txBody>
      </p:sp>
      <p:sp>
        <p:nvSpPr>
          <p:cNvPr id="43" name="Shape 22"/>
          <p:cNvSpPr/>
          <p:nvPr/>
        </p:nvSpPr>
        <p:spPr>
          <a:xfrm>
            <a:off x="8686799" y="3447288"/>
            <a:ext cx="1" cy="301753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" name="Shape 23"/>
          <p:cNvSpPr/>
          <p:nvPr/>
        </p:nvSpPr>
        <p:spPr>
          <a:xfrm>
            <a:off x="8503919" y="3749040"/>
            <a:ext cx="365761" cy="365761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" name="Text 24"/>
          <p:cNvSpPr txBox="1"/>
          <p:nvPr/>
        </p:nvSpPr>
        <p:spPr>
          <a:xfrm>
            <a:off x="8549639" y="3807767"/>
            <a:ext cx="274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46" name="Text 25"/>
          <p:cNvSpPr txBox="1"/>
          <p:nvPr/>
        </p:nvSpPr>
        <p:spPr>
          <a:xfrm>
            <a:off x="9052559" y="3802819"/>
            <a:ext cx="22860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r>
              <a:t>Almacenar</a:t>
            </a:r>
          </a:p>
        </p:txBody>
      </p:sp>
      <p:sp>
        <p:nvSpPr>
          <p:cNvPr id="47" name="Shape 26"/>
          <p:cNvSpPr/>
          <p:nvPr/>
        </p:nvSpPr>
        <p:spPr>
          <a:xfrm>
            <a:off x="8686799" y="4133088"/>
            <a:ext cx="1" cy="301753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Shape 27"/>
          <p:cNvSpPr/>
          <p:nvPr/>
        </p:nvSpPr>
        <p:spPr>
          <a:xfrm>
            <a:off x="8503919" y="4434840"/>
            <a:ext cx="365761" cy="365761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Text 28"/>
          <p:cNvSpPr txBox="1"/>
          <p:nvPr/>
        </p:nvSpPr>
        <p:spPr>
          <a:xfrm>
            <a:off x="8549639" y="4493567"/>
            <a:ext cx="274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50" name="Text 29"/>
          <p:cNvSpPr txBox="1"/>
          <p:nvPr/>
        </p:nvSpPr>
        <p:spPr>
          <a:xfrm>
            <a:off x="9052559" y="4488619"/>
            <a:ext cx="22860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r>
              <a:t>Procesar</a:t>
            </a:r>
          </a:p>
        </p:txBody>
      </p:sp>
      <p:sp>
        <p:nvSpPr>
          <p:cNvPr id="51" name="Shape 30"/>
          <p:cNvSpPr/>
          <p:nvPr/>
        </p:nvSpPr>
        <p:spPr>
          <a:xfrm>
            <a:off x="8686799" y="4818888"/>
            <a:ext cx="1" cy="301753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" name="Shape 31"/>
          <p:cNvSpPr/>
          <p:nvPr/>
        </p:nvSpPr>
        <p:spPr>
          <a:xfrm>
            <a:off x="8503919" y="5120640"/>
            <a:ext cx="365761" cy="365761"/>
          </a:xfrm>
          <a:prstGeom prst="ellipse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Text 32"/>
          <p:cNvSpPr txBox="1"/>
          <p:nvPr/>
        </p:nvSpPr>
        <p:spPr>
          <a:xfrm>
            <a:off x="8549639" y="5179367"/>
            <a:ext cx="274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54" name="Text 33"/>
          <p:cNvSpPr txBox="1"/>
          <p:nvPr/>
        </p:nvSpPr>
        <p:spPr>
          <a:xfrm>
            <a:off x="9052559" y="5174419"/>
            <a:ext cx="22860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r>
              <a:t>Visualizar</a:t>
            </a:r>
          </a:p>
        </p:txBody>
      </p:sp>
      <p:sp>
        <p:nvSpPr>
          <p:cNvPr id="55" name="Shape 34"/>
          <p:cNvSpPr/>
          <p:nvPr/>
        </p:nvSpPr>
        <p:spPr>
          <a:xfrm>
            <a:off x="8686799" y="5504688"/>
            <a:ext cx="1" cy="301753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Shape 35"/>
          <p:cNvSpPr/>
          <p:nvPr/>
        </p:nvSpPr>
        <p:spPr>
          <a:xfrm>
            <a:off x="8503919" y="5806440"/>
            <a:ext cx="365761" cy="365761"/>
          </a:xfrm>
          <a:prstGeom prst="ellipse">
            <a:avLst/>
          </a:prstGeom>
          <a:solidFill>
            <a:srgbClr val="8A6B9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Text 36"/>
          <p:cNvSpPr txBox="1"/>
          <p:nvPr/>
        </p:nvSpPr>
        <p:spPr>
          <a:xfrm>
            <a:off x="8549639" y="5865167"/>
            <a:ext cx="274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58" name="Text 37"/>
          <p:cNvSpPr txBox="1"/>
          <p:nvPr/>
        </p:nvSpPr>
        <p:spPr>
          <a:xfrm>
            <a:off x="9052559" y="5860219"/>
            <a:ext cx="22860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r>
              <a:t>Automatizar</a:t>
            </a:r>
          </a:p>
        </p:txBody>
      </p:sp>
      <p:pic>
        <p:nvPicPr>
          <p:cNvPr id="59" name="filters-quality(70).jpeg" descr="filters-quality(70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72" y="132349"/>
            <a:ext cx="3128011" cy="2127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640080" y="457200"/>
            <a:ext cx="3291841" cy="310896"/>
          </a:xfrm>
          <a:prstGeom prst="roundRect">
            <a:avLst>
              <a:gd name="adj" fmla="val 23529"/>
            </a:avLst>
          </a:prstGeom>
          <a:solidFill>
            <a:srgbClr val="4F8C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Text 1"/>
          <p:cNvSpPr txBox="1"/>
          <p:nvPr/>
        </p:nvSpPr>
        <p:spPr>
          <a:xfrm>
            <a:off x="685799" y="498392"/>
            <a:ext cx="32004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2 · PYTHON + PANDAS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667511" y="868679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Carga y limpieza de datos</a:t>
            </a:r>
          </a:p>
        </p:txBody>
      </p:sp>
      <p:sp>
        <p:nvSpPr>
          <p:cNvPr id="64" name="Text 3"/>
          <p:cNvSpPr txBox="1"/>
          <p:nvPr/>
        </p:nvSpPr>
        <p:spPr>
          <a:xfrm>
            <a:off x="667511" y="1425379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De 5 CSV independientes a un único dataset limpio y normalizado</a:t>
            </a:r>
          </a:p>
        </p:txBody>
      </p:sp>
      <p:sp>
        <p:nvSpPr>
          <p:cNvPr id="65" name="Shape 4"/>
          <p:cNvSpPr/>
          <p:nvPr/>
        </p:nvSpPr>
        <p:spPr>
          <a:xfrm>
            <a:off x="621791" y="1965960"/>
            <a:ext cx="5074922" cy="8412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76200" dist="25400" dir="54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66" name="Shape 5"/>
          <p:cNvSpPr/>
          <p:nvPr/>
        </p:nvSpPr>
        <p:spPr>
          <a:xfrm>
            <a:off x="621791" y="1965960"/>
            <a:ext cx="82297" cy="841249"/>
          </a:xfrm>
          <a:prstGeom prst="rect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ext 6"/>
          <p:cNvSpPr txBox="1"/>
          <p:nvPr/>
        </p:nvSpPr>
        <p:spPr>
          <a:xfrm>
            <a:off x="914399" y="2058732"/>
            <a:ext cx="4572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2302A"/>
                </a:solidFill>
              </a:defRPr>
            </a:lvl1pPr>
          </a:lstStyle>
          <a:p>
            <a:r>
              <a:t>5 CSV</a:t>
            </a:r>
          </a:p>
        </p:txBody>
      </p:sp>
      <p:sp>
        <p:nvSpPr>
          <p:cNvPr id="68" name="Text 7"/>
          <p:cNvSpPr txBox="1"/>
          <p:nvPr/>
        </p:nvSpPr>
        <p:spPr>
          <a:xfrm>
            <a:off x="891540" y="2434582"/>
            <a:ext cx="46177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r>
              <a:t>Europa · África · Asia · América · Oceanía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2971800" y="2777938"/>
            <a:ext cx="3657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r>
              <a:t>↓</a:t>
            </a:r>
          </a:p>
        </p:txBody>
      </p:sp>
      <p:sp>
        <p:nvSpPr>
          <p:cNvPr id="70" name="Shape 9"/>
          <p:cNvSpPr/>
          <p:nvPr/>
        </p:nvSpPr>
        <p:spPr>
          <a:xfrm>
            <a:off x="621791" y="3063239"/>
            <a:ext cx="5074922" cy="8412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76200" dist="25400" dir="54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1" name="Shape 10"/>
          <p:cNvSpPr/>
          <p:nvPr/>
        </p:nvSpPr>
        <p:spPr>
          <a:xfrm>
            <a:off x="621791" y="3063239"/>
            <a:ext cx="82297" cy="841249"/>
          </a:xfrm>
          <a:prstGeom prst="rect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Text 11"/>
          <p:cNvSpPr txBox="1"/>
          <p:nvPr/>
        </p:nvSpPr>
        <p:spPr>
          <a:xfrm>
            <a:off x="914399" y="3156012"/>
            <a:ext cx="4572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2302A"/>
                </a:solidFill>
              </a:defRPr>
            </a:lvl1pPr>
          </a:lstStyle>
          <a:p>
            <a:r>
              <a:t>carga_datos.py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914400" y="3542591"/>
            <a:ext cx="46177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r>
              <a:t>lee cada CSV y los concatena en un único DataFrame</a:t>
            </a:r>
          </a:p>
        </p:txBody>
      </p:sp>
      <p:sp>
        <p:nvSpPr>
          <p:cNvPr id="74" name="Text 13"/>
          <p:cNvSpPr txBox="1"/>
          <p:nvPr/>
        </p:nvSpPr>
        <p:spPr>
          <a:xfrm>
            <a:off x="2971800" y="3875217"/>
            <a:ext cx="3657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r>
              <a:t>↓</a:t>
            </a:r>
          </a:p>
        </p:txBody>
      </p:sp>
      <p:sp>
        <p:nvSpPr>
          <p:cNvPr id="75" name="Shape 14"/>
          <p:cNvSpPr/>
          <p:nvPr/>
        </p:nvSpPr>
        <p:spPr>
          <a:xfrm>
            <a:off x="621791" y="4160520"/>
            <a:ext cx="5074922" cy="8412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76200" dist="25400" dir="54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6" name="Shape 15"/>
          <p:cNvSpPr/>
          <p:nvPr/>
        </p:nvSpPr>
        <p:spPr>
          <a:xfrm>
            <a:off x="621791" y="4160520"/>
            <a:ext cx="82297" cy="841249"/>
          </a:xfrm>
          <a:prstGeom prst="rect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" name="Text 16"/>
          <p:cNvSpPr txBox="1"/>
          <p:nvPr/>
        </p:nvSpPr>
        <p:spPr>
          <a:xfrm>
            <a:off x="914399" y="4253292"/>
            <a:ext cx="4572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2302A"/>
                </a:solidFill>
              </a:defRPr>
            </a:lvl1pPr>
          </a:lstStyle>
          <a:p>
            <a:r>
              <a:t>limpieza_datos.py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914400" y="4639871"/>
            <a:ext cx="46177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r>
              <a:t>eliminar_columnas() + normalizar_columnas()</a:t>
            </a:r>
          </a:p>
        </p:txBody>
      </p:sp>
      <p:sp>
        <p:nvSpPr>
          <p:cNvPr id="79" name="Text 18"/>
          <p:cNvSpPr txBox="1"/>
          <p:nvPr/>
        </p:nvSpPr>
        <p:spPr>
          <a:xfrm>
            <a:off x="2971800" y="4972497"/>
            <a:ext cx="3657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r>
              <a:t>↓</a:t>
            </a:r>
          </a:p>
        </p:txBody>
      </p:sp>
      <p:sp>
        <p:nvSpPr>
          <p:cNvPr id="80" name="Shape 19"/>
          <p:cNvSpPr/>
          <p:nvPr/>
        </p:nvSpPr>
        <p:spPr>
          <a:xfrm>
            <a:off x="621791" y="5257800"/>
            <a:ext cx="507492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76200" dist="25400" dir="54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1" name="Shape 20"/>
          <p:cNvSpPr/>
          <p:nvPr/>
        </p:nvSpPr>
        <p:spPr>
          <a:xfrm>
            <a:off x="621791" y="5257800"/>
            <a:ext cx="82297" cy="841248"/>
          </a:xfrm>
          <a:prstGeom prst="rect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21"/>
          <p:cNvSpPr txBox="1"/>
          <p:nvPr/>
        </p:nvSpPr>
        <p:spPr>
          <a:xfrm>
            <a:off x="914399" y="5350572"/>
            <a:ext cx="4572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2302A"/>
                </a:solidFill>
              </a:defRPr>
            </a:lvl1pPr>
          </a:lstStyle>
          <a:p>
            <a:r>
              <a:t>continentes.csv</a:t>
            </a:r>
          </a:p>
        </p:txBody>
      </p:sp>
      <p:sp>
        <p:nvSpPr>
          <p:cNvPr id="83" name="Text 22"/>
          <p:cNvSpPr txBox="1"/>
          <p:nvPr/>
        </p:nvSpPr>
        <p:spPr>
          <a:xfrm>
            <a:off x="914400" y="5737151"/>
            <a:ext cx="46177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r>
              <a:t>dataset limpio, listo para MySQL</a:t>
            </a:r>
          </a:p>
        </p:txBody>
      </p:sp>
      <p:sp>
        <p:nvSpPr>
          <p:cNvPr id="84" name="Text 23"/>
          <p:cNvSpPr txBox="1"/>
          <p:nvPr/>
        </p:nvSpPr>
        <p:spPr>
          <a:xfrm>
            <a:off x="640080" y="6176449"/>
            <a:ext cx="502920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i="1">
                <a:solidFill>
                  <a:srgbClr val="5B6B62"/>
                </a:solidFill>
              </a:defRPr>
            </a:lvl1pPr>
          </a:lstStyle>
          <a:p>
            <a:r>
              <a:t>main.py orquesta todo el flujo: importa lib.carga_datos y lib.limpieza_datos, exporta continentes.csv y llama a la inserción en MySQL.</a:t>
            </a:r>
          </a:p>
        </p:txBody>
      </p:sp>
      <p:sp>
        <p:nvSpPr>
          <p:cNvPr id="85" name="Text 24"/>
          <p:cNvSpPr txBox="1"/>
          <p:nvPr/>
        </p:nvSpPr>
        <p:spPr>
          <a:xfrm>
            <a:off x="6149340" y="1968451"/>
            <a:ext cx="53949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 spc="118">
                <a:solidFill>
                  <a:srgbClr val="B5443A"/>
                </a:solidFill>
              </a:defRPr>
            </a:lvl1pPr>
          </a:lstStyle>
          <a:p>
            <a:r>
              <a:t>ANTES → DESPUÉS DE LA LIMPIEZA</a:t>
            </a:r>
          </a:p>
        </p:txBody>
      </p:sp>
      <p:sp>
        <p:nvSpPr>
          <p:cNvPr id="86" name="Shape 25"/>
          <p:cNvSpPr/>
          <p:nvPr/>
        </p:nvSpPr>
        <p:spPr>
          <a:xfrm>
            <a:off x="6080759" y="2331720"/>
            <a:ext cx="5486401" cy="1783080"/>
          </a:xfrm>
          <a:prstGeom prst="roundRect">
            <a:avLst>
              <a:gd name="adj" fmla="val 4103"/>
            </a:avLst>
          </a:prstGeom>
          <a:solidFill>
            <a:srgbClr val="FFF7F1"/>
          </a:solidFill>
          <a:ln w="12700">
            <a:solidFill>
              <a:srgbClr val="EAD9C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Text 26"/>
          <p:cNvSpPr txBox="1"/>
          <p:nvPr/>
        </p:nvSpPr>
        <p:spPr>
          <a:xfrm>
            <a:off x="6355079" y="2429633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B5443A"/>
                </a:solidFill>
              </a:defRPr>
            </a:lvl1pPr>
          </a:lstStyle>
          <a:p>
            <a:r>
              <a:t>CSV en bruto (17 columnas)</a:t>
            </a:r>
          </a:p>
        </p:txBody>
      </p:sp>
      <p:sp>
        <p:nvSpPr>
          <p:cNvPr id="88" name="Text 27"/>
          <p:cNvSpPr txBox="1"/>
          <p:nvPr/>
        </p:nvSpPr>
        <p:spPr>
          <a:xfrm>
            <a:off x="6355079" y="2737231"/>
            <a:ext cx="4937761" cy="676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6B4A3E"/>
                </a:solidFill>
              </a:defRPr>
            </a:lvl1pPr>
          </a:lstStyle>
          <a:p>
            <a:r>
              <a:t>Código del ámbito, Ámbito, Código del área, Área, Código del elemento, Elemento, Código del producto, Producto, Código del año, Año, Código fuente, Fuente, Unidad, Valor, Símbolo, Descripción, Nota</a:t>
            </a:r>
          </a:p>
        </p:txBody>
      </p:sp>
      <p:sp>
        <p:nvSpPr>
          <p:cNvPr id="89" name="Text 28"/>
          <p:cNvSpPr txBox="1"/>
          <p:nvPr/>
        </p:nvSpPr>
        <p:spPr>
          <a:xfrm>
            <a:off x="6355079" y="3534585"/>
            <a:ext cx="49377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 i="1">
                <a:solidFill>
                  <a:srgbClr val="8A6151"/>
                </a:solidFill>
              </a:defRPr>
            </a:pPr>
            <a:r>
              <a:t>eliminar_columnas(): fuera 6 columnas redundantes o vacías</a:t>
            </a:r>
          </a:p>
          <a:p>
            <a:pPr>
              <a:defRPr sz="1200" i="1">
                <a:solidFill>
                  <a:srgbClr val="8A6151"/>
                </a:solidFill>
              </a:defRPr>
            </a:pPr>
            <a:r>
              <a:t>(Código del ámbito, Ámbito, Código del año, Código fuente, Fuente, Nota)</a:t>
            </a:r>
          </a:p>
        </p:txBody>
      </p:sp>
      <p:sp>
        <p:nvSpPr>
          <p:cNvPr id="90" name="Shape 29"/>
          <p:cNvSpPr/>
          <p:nvPr/>
        </p:nvSpPr>
        <p:spPr>
          <a:xfrm>
            <a:off x="6080759" y="4251959"/>
            <a:ext cx="5486401" cy="1417321"/>
          </a:xfrm>
          <a:prstGeom prst="roundRect">
            <a:avLst>
              <a:gd name="adj" fmla="val 5161"/>
            </a:avLst>
          </a:prstGeom>
          <a:solidFill>
            <a:srgbClr val="F0F7F1"/>
          </a:solidFill>
          <a:ln w="12700">
            <a:solidFill>
              <a:srgbClr val="D3E6D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Text 30"/>
          <p:cNvSpPr txBox="1"/>
          <p:nvPr/>
        </p:nvSpPr>
        <p:spPr>
          <a:xfrm>
            <a:off x="6355079" y="4378890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4F8C5A"/>
                </a:solidFill>
              </a:defRPr>
            </a:lvl1pPr>
          </a:lstStyle>
          <a:p>
            <a:r>
              <a:t>Dataset limpio (11 columnas)</a:t>
            </a:r>
          </a:p>
        </p:txBody>
      </p:sp>
      <p:sp>
        <p:nvSpPr>
          <p:cNvPr id="92" name="Text 31"/>
          <p:cNvSpPr txBox="1"/>
          <p:nvPr/>
        </p:nvSpPr>
        <p:spPr>
          <a:xfrm>
            <a:off x="6355079" y="4683732"/>
            <a:ext cx="4937761" cy="462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3D5A44"/>
                </a:solidFill>
              </a:defRPr>
            </a:lvl1pPr>
          </a:lstStyle>
          <a:p>
            <a:r>
              <a:t>codigo_area, area, codigo_elemento, elemento, codigo_producto, producto, anio, unidad, valor, simbolo, descripcion_simbolo</a:t>
            </a:r>
          </a:p>
        </p:txBody>
      </p:sp>
      <p:sp>
        <p:nvSpPr>
          <p:cNvPr id="93" name="Text 32"/>
          <p:cNvSpPr txBox="1"/>
          <p:nvPr/>
        </p:nvSpPr>
        <p:spPr>
          <a:xfrm>
            <a:off x="6355079" y="5184087"/>
            <a:ext cx="49377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i="1">
                <a:solidFill>
                  <a:srgbClr val="5B7A63"/>
                </a:solidFill>
              </a:defRPr>
            </a:lvl1pPr>
          </a:lstStyle>
          <a:p>
            <a:r>
              <a:t>normalizar_columnas(): nombres estandarizados en snake_case, listos para SQL</a:t>
            </a:r>
          </a:p>
        </p:txBody>
      </p:sp>
      <p:sp>
        <p:nvSpPr>
          <p:cNvPr id="94" name="Shape 33"/>
          <p:cNvSpPr/>
          <p:nvPr/>
        </p:nvSpPr>
        <p:spPr>
          <a:xfrm>
            <a:off x="6080759" y="5806440"/>
            <a:ext cx="5486401" cy="685801"/>
          </a:xfrm>
          <a:prstGeom prst="roundRect">
            <a:avLst>
              <a:gd name="adj" fmla="val 10667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Text 34"/>
          <p:cNvSpPr txBox="1"/>
          <p:nvPr/>
        </p:nvSpPr>
        <p:spPr>
          <a:xfrm>
            <a:off x="6355079" y="5979249"/>
            <a:ext cx="498348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2000" b="1">
                <a:solidFill>
                  <a:srgbClr val="D98C3F"/>
                </a:solidFill>
              </a:defRPr>
            </a:pPr>
            <a:r>
              <a:t>77.491</a:t>
            </a:r>
            <a:r>
              <a:rPr sz="1200" b="0">
                <a:solidFill>
                  <a:srgbClr val="E7E2D6"/>
                </a:solidFill>
              </a:rPr>
              <a:t>  filas combinadas de los 5 continentes  →  </a:t>
            </a:r>
            <a:r>
              <a:rPr sz="1200">
                <a:solidFill>
                  <a:srgbClr val="CFE0D4"/>
                </a:solidFill>
              </a:rPr>
              <a:t>continentes.csv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640080" y="457200"/>
            <a:ext cx="3291841" cy="310896"/>
          </a:xfrm>
          <a:prstGeom prst="roundRect">
            <a:avLst>
              <a:gd name="adj" fmla="val 23529"/>
            </a:avLst>
          </a:prstGeom>
          <a:solidFill>
            <a:srgbClr val="3A6B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 1"/>
          <p:cNvSpPr txBox="1"/>
          <p:nvPr/>
        </p:nvSpPr>
        <p:spPr>
          <a:xfrm>
            <a:off x="685799" y="498392"/>
            <a:ext cx="320040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3 · MYSQL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667511" y="868679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Almacenamiento MySQL</a:t>
            </a:r>
          </a:p>
        </p:txBody>
      </p:sp>
      <p:sp>
        <p:nvSpPr>
          <p:cNvPr id="100" name="Text 3"/>
          <p:cNvSpPr txBox="1"/>
          <p:nvPr/>
        </p:nvSpPr>
        <p:spPr>
          <a:xfrm>
            <a:off x="667511" y="1425379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5B6B62"/>
                </a:solidFill>
              </a:defRPr>
            </a:pPr>
            <a:r>
              <a:t>Carga del dataset limpio en la base de datos </a:t>
            </a:r>
            <a:r>
              <a:rPr i="1"/>
              <a:t>proyecto_final</a:t>
            </a:r>
          </a:p>
        </p:txBody>
      </p:sp>
      <p:sp>
        <p:nvSpPr>
          <p:cNvPr id="101" name="Shape 4"/>
          <p:cNvSpPr/>
          <p:nvPr/>
        </p:nvSpPr>
        <p:spPr>
          <a:xfrm>
            <a:off x="621791" y="2011679"/>
            <a:ext cx="3246122" cy="141732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76200" dist="25400" dir="5400000" rotWithShape="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" name="Text 5"/>
          <p:cNvSpPr txBox="1"/>
          <p:nvPr/>
        </p:nvSpPr>
        <p:spPr>
          <a:xfrm>
            <a:off x="850391" y="2168460"/>
            <a:ext cx="27889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22302A"/>
                </a:solidFill>
              </a:defRPr>
            </a:lvl1pPr>
          </a:lstStyle>
          <a:p>
            <a:r>
              <a:t>df_normalizado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850391" y="2542085"/>
            <a:ext cx="2788922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5B6B62"/>
                </a:solidFill>
              </a:defRPr>
            </a:pPr>
            <a:r>
              <a:t>DataFrame de pandas con las</a:t>
            </a:r>
          </a:p>
          <a:p>
            <a:pPr>
              <a:defRPr sz="1200">
                <a:solidFill>
                  <a:srgbClr val="5B6B62"/>
                </a:solidFill>
              </a:defRPr>
            </a:pPr>
            <a:r>
              <a:t>11 columnas normalizadas</a:t>
            </a:r>
          </a:p>
        </p:txBody>
      </p:sp>
      <p:sp>
        <p:nvSpPr>
          <p:cNvPr id="104" name="Text 7"/>
          <p:cNvSpPr txBox="1"/>
          <p:nvPr/>
        </p:nvSpPr>
        <p:spPr>
          <a:xfrm>
            <a:off x="850391" y="3087546"/>
            <a:ext cx="27889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i="1">
                <a:solidFill>
                  <a:srgbClr val="9C9480"/>
                </a:solidFill>
              </a:defRPr>
            </a:lvl1pPr>
          </a:lstStyle>
          <a:p>
            <a:r>
              <a:t>insercion_mysql.py</a:t>
            </a:r>
          </a:p>
        </p:txBody>
      </p:sp>
      <p:sp>
        <p:nvSpPr>
          <p:cNvPr id="105" name="Text 8"/>
          <p:cNvSpPr txBox="1"/>
          <p:nvPr/>
        </p:nvSpPr>
        <p:spPr>
          <a:xfrm>
            <a:off x="4023360" y="2524368"/>
            <a:ext cx="45720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06" name="Shape 9"/>
          <p:cNvSpPr/>
          <p:nvPr/>
        </p:nvSpPr>
        <p:spPr>
          <a:xfrm>
            <a:off x="4617720" y="2011679"/>
            <a:ext cx="3246121" cy="1417321"/>
          </a:xfrm>
          <a:prstGeom prst="roundRect">
            <a:avLst>
              <a:gd name="adj" fmla="val 5161"/>
            </a:avLst>
          </a:prstGeom>
          <a:solidFill>
            <a:srgbClr val="3A6B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10"/>
          <p:cNvSpPr txBox="1"/>
          <p:nvPr/>
        </p:nvSpPr>
        <p:spPr>
          <a:xfrm>
            <a:off x="4846320" y="2168460"/>
            <a:ext cx="2788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MySQL · proyecto_final</a:t>
            </a:r>
          </a:p>
        </p:txBody>
      </p:sp>
      <p:sp>
        <p:nvSpPr>
          <p:cNvPr id="108" name="Text 11"/>
          <p:cNvSpPr txBox="1"/>
          <p:nvPr/>
        </p:nvSpPr>
        <p:spPr>
          <a:xfrm>
            <a:off x="4846320" y="2500175"/>
            <a:ext cx="27889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E4EEF5"/>
                </a:solidFill>
              </a:defRPr>
            </a:pPr>
            <a:r>
              <a:t>Tabla única: </a:t>
            </a:r>
            <a:r>
              <a:rPr i="1"/>
              <a:t>dataset_fao</a:t>
            </a:r>
          </a:p>
        </p:txBody>
      </p:sp>
      <p:sp>
        <p:nvSpPr>
          <p:cNvPr id="109" name="Text 12"/>
          <p:cNvSpPr txBox="1"/>
          <p:nvPr/>
        </p:nvSpPr>
        <p:spPr>
          <a:xfrm>
            <a:off x="4846320" y="2917865"/>
            <a:ext cx="27889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 i="1">
                <a:solidFill>
                  <a:srgbClr val="CFE1EC"/>
                </a:solidFill>
              </a:defRPr>
            </a:pPr>
            <a:r>
              <a:t>get_connection() vía mysql-connector</a:t>
            </a:r>
          </a:p>
          <a:p>
            <a:pPr>
              <a:defRPr sz="900" i="1">
                <a:solidFill>
                  <a:srgbClr val="CFE1EC"/>
                </a:solidFill>
              </a:defRPr>
            </a:pPr>
            <a:r>
              <a:t>(credenciales en .env)</a:t>
            </a:r>
          </a:p>
        </p:txBody>
      </p:sp>
      <p:sp>
        <p:nvSpPr>
          <p:cNvPr id="110" name="Shape 13"/>
          <p:cNvSpPr/>
          <p:nvPr/>
        </p:nvSpPr>
        <p:spPr>
          <a:xfrm>
            <a:off x="621791" y="3794759"/>
            <a:ext cx="384049" cy="384049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4"/>
          <p:cNvSpPr txBox="1"/>
          <p:nvPr/>
        </p:nvSpPr>
        <p:spPr>
          <a:xfrm>
            <a:off x="667511" y="3846384"/>
            <a:ext cx="29260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1188719" y="3875970"/>
            <a:ext cx="6629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22302A"/>
                </a:solidFill>
              </a:defRPr>
            </a:pPr>
            <a:r>
              <a:t>vaciar_tabla()  </a:t>
            </a:r>
            <a:r>
              <a:rPr sz="1100" b="0">
                <a:solidFill>
                  <a:srgbClr val="5B6B62"/>
                </a:solidFill>
              </a:rPr>
              <a:t>DELETE FROM dataset_fao — se limpia antes de cada carga, por si acaso</a:t>
            </a:r>
          </a:p>
        </p:txBody>
      </p:sp>
      <p:sp>
        <p:nvSpPr>
          <p:cNvPr id="113" name="Shape 16"/>
          <p:cNvSpPr/>
          <p:nvPr/>
        </p:nvSpPr>
        <p:spPr>
          <a:xfrm>
            <a:off x="621791" y="4416552"/>
            <a:ext cx="384049" cy="384049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Text 17"/>
          <p:cNvSpPr txBox="1"/>
          <p:nvPr/>
        </p:nvSpPr>
        <p:spPr>
          <a:xfrm>
            <a:off x="667511" y="4468176"/>
            <a:ext cx="29260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1188719" y="4497763"/>
            <a:ext cx="662940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22302A"/>
                </a:solidFill>
              </a:defRPr>
            </a:pPr>
            <a:r>
              <a:t>insert_emissions(df)  </a:t>
            </a:r>
            <a:r>
              <a:rPr sz="1100" b="0">
                <a:solidFill>
                  <a:srgbClr val="5B6B62"/>
                </a:solidFill>
              </a:rPr>
              <a:t>INSERT masivo con cursor.executemany() — una sola llamada, un solo commit</a:t>
            </a:r>
          </a:p>
        </p:txBody>
      </p:sp>
      <p:sp>
        <p:nvSpPr>
          <p:cNvPr id="116" name="Shape 19"/>
          <p:cNvSpPr/>
          <p:nvPr/>
        </p:nvSpPr>
        <p:spPr>
          <a:xfrm>
            <a:off x="621791" y="5038344"/>
            <a:ext cx="384049" cy="384049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Text 20"/>
          <p:cNvSpPr txBox="1"/>
          <p:nvPr/>
        </p:nvSpPr>
        <p:spPr>
          <a:xfrm>
            <a:off x="667511" y="5089968"/>
            <a:ext cx="29260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118" name="Text 21"/>
          <p:cNvSpPr txBox="1"/>
          <p:nvPr/>
        </p:nvSpPr>
        <p:spPr>
          <a:xfrm>
            <a:off x="1188719" y="5119555"/>
            <a:ext cx="662940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 b="1">
                <a:solidFill>
                  <a:srgbClr val="22302A"/>
                </a:solidFill>
              </a:defRPr>
            </a:pPr>
            <a:r>
              <a:t>Validación  </a:t>
            </a:r>
            <a:r>
              <a:rPr sz="1100" b="0">
                <a:solidFill>
                  <a:srgbClr val="5B6B62"/>
                </a:solidFill>
              </a:rPr>
              <a:t>Consulta de control: filas insertadas y muestra de registros</a:t>
            </a:r>
          </a:p>
        </p:txBody>
      </p:sp>
      <p:sp>
        <p:nvSpPr>
          <p:cNvPr id="119" name="Shape 22"/>
          <p:cNvSpPr/>
          <p:nvPr/>
        </p:nvSpPr>
        <p:spPr>
          <a:xfrm>
            <a:off x="8275319" y="2011679"/>
            <a:ext cx="3246121" cy="4251961"/>
          </a:xfrm>
          <a:prstGeom prst="roundRect">
            <a:avLst>
              <a:gd name="adj" fmla="val 2817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23"/>
          <p:cNvSpPr txBox="1"/>
          <p:nvPr/>
        </p:nvSpPr>
        <p:spPr>
          <a:xfrm>
            <a:off x="8549639" y="2218866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D98C3F"/>
                </a:solidFill>
              </a:defRPr>
            </a:lvl1pPr>
          </a:lstStyle>
          <a:p>
            <a:r>
              <a:t>ESQUEMA · dataset_fao</a:t>
            </a:r>
          </a:p>
        </p:txBody>
      </p:sp>
      <p:sp>
        <p:nvSpPr>
          <p:cNvPr id="121" name="Text 24"/>
          <p:cNvSpPr txBox="1"/>
          <p:nvPr/>
        </p:nvSpPr>
        <p:spPr>
          <a:xfrm>
            <a:off x="8549639" y="257548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codigo_area</a:t>
            </a:r>
          </a:p>
        </p:txBody>
      </p:sp>
      <p:sp>
        <p:nvSpPr>
          <p:cNvPr id="122" name="Text 25"/>
          <p:cNvSpPr txBox="1"/>
          <p:nvPr/>
        </p:nvSpPr>
        <p:spPr>
          <a:xfrm>
            <a:off x="8549639" y="284980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area</a:t>
            </a:r>
          </a:p>
        </p:txBody>
      </p:sp>
      <p:sp>
        <p:nvSpPr>
          <p:cNvPr id="123" name="Text 26"/>
          <p:cNvSpPr txBox="1"/>
          <p:nvPr/>
        </p:nvSpPr>
        <p:spPr>
          <a:xfrm>
            <a:off x="8549639" y="312412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codigo_elemento</a:t>
            </a:r>
          </a:p>
        </p:txBody>
      </p:sp>
      <p:sp>
        <p:nvSpPr>
          <p:cNvPr id="124" name="Text 27"/>
          <p:cNvSpPr txBox="1"/>
          <p:nvPr/>
        </p:nvSpPr>
        <p:spPr>
          <a:xfrm>
            <a:off x="8549639" y="3398441"/>
            <a:ext cx="26974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elemento</a:t>
            </a:r>
          </a:p>
        </p:txBody>
      </p:sp>
      <p:sp>
        <p:nvSpPr>
          <p:cNvPr id="125" name="Text 28"/>
          <p:cNvSpPr txBox="1"/>
          <p:nvPr/>
        </p:nvSpPr>
        <p:spPr>
          <a:xfrm>
            <a:off x="8549639" y="3672761"/>
            <a:ext cx="26974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codigo_producto</a:t>
            </a:r>
          </a:p>
        </p:txBody>
      </p:sp>
      <p:sp>
        <p:nvSpPr>
          <p:cNvPr id="126" name="Text 29"/>
          <p:cNvSpPr txBox="1"/>
          <p:nvPr/>
        </p:nvSpPr>
        <p:spPr>
          <a:xfrm>
            <a:off x="8549639" y="394708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producto</a:t>
            </a:r>
          </a:p>
        </p:txBody>
      </p:sp>
      <p:sp>
        <p:nvSpPr>
          <p:cNvPr id="127" name="Text 30"/>
          <p:cNvSpPr txBox="1"/>
          <p:nvPr/>
        </p:nvSpPr>
        <p:spPr>
          <a:xfrm>
            <a:off x="8549639" y="422140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anio</a:t>
            </a:r>
          </a:p>
        </p:txBody>
      </p:sp>
      <p:sp>
        <p:nvSpPr>
          <p:cNvPr id="128" name="Text 31"/>
          <p:cNvSpPr txBox="1"/>
          <p:nvPr/>
        </p:nvSpPr>
        <p:spPr>
          <a:xfrm>
            <a:off x="8549639" y="4495721"/>
            <a:ext cx="26974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unidad</a:t>
            </a:r>
          </a:p>
        </p:txBody>
      </p:sp>
      <p:sp>
        <p:nvSpPr>
          <p:cNvPr id="129" name="Text 32"/>
          <p:cNvSpPr txBox="1"/>
          <p:nvPr/>
        </p:nvSpPr>
        <p:spPr>
          <a:xfrm>
            <a:off x="8549639" y="4770041"/>
            <a:ext cx="26974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valor</a:t>
            </a:r>
          </a:p>
        </p:txBody>
      </p:sp>
      <p:sp>
        <p:nvSpPr>
          <p:cNvPr id="130" name="Text 33"/>
          <p:cNvSpPr txBox="1"/>
          <p:nvPr/>
        </p:nvSpPr>
        <p:spPr>
          <a:xfrm>
            <a:off x="8549639" y="5044361"/>
            <a:ext cx="26974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simbolo</a:t>
            </a:r>
          </a:p>
        </p:txBody>
      </p:sp>
      <p:sp>
        <p:nvSpPr>
          <p:cNvPr id="131" name="Text 34"/>
          <p:cNvSpPr txBox="1"/>
          <p:nvPr/>
        </p:nvSpPr>
        <p:spPr>
          <a:xfrm>
            <a:off x="8549639" y="5318682"/>
            <a:ext cx="2697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r>
              <a:t>•  descripcion_simbolo</a:t>
            </a:r>
          </a:p>
        </p:txBody>
      </p:sp>
      <p:sp>
        <p:nvSpPr>
          <p:cNvPr id="132" name="Shape 35"/>
          <p:cNvSpPr/>
          <p:nvPr/>
        </p:nvSpPr>
        <p:spPr>
          <a:xfrm>
            <a:off x="8503919" y="5623559"/>
            <a:ext cx="2788921" cy="1"/>
          </a:xfrm>
          <a:prstGeom prst="line">
            <a:avLst/>
          </a:prstGeom>
          <a:ln w="12700">
            <a:solidFill>
              <a:srgbClr val="3A5A4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Text 36"/>
          <p:cNvSpPr txBox="1"/>
          <p:nvPr/>
        </p:nvSpPr>
        <p:spPr>
          <a:xfrm>
            <a:off x="8549639" y="5810250"/>
            <a:ext cx="269748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77.491 filas</a:t>
            </a:r>
          </a:p>
        </p:txBody>
      </p:sp>
      <p:sp>
        <p:nvSpPr>
          <p:cNvPr id="134" name="Text 37"/>
          <p:cNvSpPr txBox="1"/>
          <p:nvPr/>
        </p:nvSpPr>
        <p:spPr>
          <a:xfrm>
            <a:off x="8549639" y="6242814"/>
            <a:ext cx="26974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r>
              <a:t>filas insertadas por executemany()</a:t>
            </a:r>
          </a:p>
        </p:txBody>
      </p:sp>
      <p:sp>
        <p:nvSpPr>
          <p:cNvPr id="135" name="Shape 38"/>
          <p:cNvSpPr/>
          <p:nvPr/>
        </p:nvSpPr>
        <p:spPr>
          <a:xfrm>
            <a:off x="621791" y="5943600"/>
            <a:ext cx="7315201" cy="548641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ext 39"/>
          <p:cNvSpPr txBox="1"/>
          <p:nvPr/>
        </p:nvSpPr>
        <p:spPr>
          <a:xfrm>
            <a:off x="868679" y="5998517"/>
            <a:ext cx="685800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 i="1">
                <a:solidFill>
                  <a:srgbClr val="5B6B62"/>
                </a:solidFill>
              </a:defRPr>
            </a:lvl1pPr>
          </a:lstStyle>
          <a:p>
            <a:r>
              <a:t>Por qué vaciar antes de insertar: evita duplicados si el pipeline se ejecuta más de una vez sobre los mismos datos.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Text 1"/>
          <p:cNvSpPr txBox="1"/>
          <p:nvPr/>
        </p:nvSpPr>
        <p:spPr>
          <a:xfrm>
            <a:off x="685800" y="4983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4 · EMISIONES.IPYNB · PUNTO 1</a:t>
            </a:r>
          </a:p>
        </p:txBody>
      </p:sp>
      <p:sp>
        <p:nvSpPr>
          <p:cNvPr id="140" name="Text 2"/>
          <p:cNvSpPr txBox="1"/>
          <p:nvPr/>
        </p:nvSpPr>
        <p:spPr>
          <a:xfrm>
            <a:off x="667511" y="894079"/>
            <a:ext cx="106984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¿Cuánto emite la ganadería y hacia dónde va?</a:t>
            </a:r>
          </a:p>
        </p:txBody>
      </p:sp>
      <p:sp>
        <p:nvSpPr>
          <p:cNvPr id="141" name="Text 3"/>
          <p:cNvSpPr txBox="1"/>
          <p:nvPr/>
        </p:nvSpPr>
        <p:spPr>
          <a:xfrm>
            <a:off x="667511" y="1425379"/>
            <a:ext cx="10424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Serie temporal mundial: metano y óxido nitroso, todos los animales y continentes, en una sola curva</a:t>
            </a:r>
          </a:p>
        </p:txBody>
      </p:sp>
      <p:sp>
        <p:nvSpPr>
          <p:cNvPr id="142" name="Shape 4"/>
          <p:cNvSpPr/>
          <p:nvPr/>
        </p:nvSpPr>
        <p:spPr>
          <a:xfrm>
            <a:off x="1280160" y="1874520"/>
            <a:ext cx="9601201" cy="365760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blurRad="101600" dist="25400" dir="54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pic>
        <p:nvPicPr>
          <p:cNvPr id="14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057400"/>
            <a:ext cx="9144001" cy="3291841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Shape 5"/>
          <p:cNvSpPr/>
          <p:nvPr/>
        </p:nvSpPr>
        <p:spPr>
          <a:xfrm>
            <a:off x="621791" y="5760720"/>
            <a:ext cx="10972801" cy="777241"/>
          </a:xfrm>
          <a:prstGeom prst="roundRect">
            <a:avLst>
              <a:gd name="adj" fmla="val 9412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Text 6"/>
          <p:cNvSpPr txBox="1"/>
          <p:nvPr/>
        </p:nvSpPr>
        <p:spPr>
          <a:xfrm>
            <a:off x="914400" y="5915249"/>
            <a:ext cx="10424160" cy="468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0000"/>
              </a:lnSpc>
              <a:defRPr sz="1200" b="1">
                <a:solidFill>
                  <a:srgbClr val="D98C3F"/>
                </a:solidFill>
              </a:defRPr>
            </a:pPr>
            <a:r>
              <a:t>+60% en seis décadas, sin señal de techo.  </a:t>
            </a:r>
            <a:r>
              <a:rPr sz="1300" b="0">
                <a:solidFill>
                  <a:srgbClr val="E7E2D6"/>
                </a:solidFill>
              </a:rPr>
              <a:t>El estancamiento de los 90 responde a la disolución de la URSS (1991) y a la reforma de la PAC europea (1992).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E7E2D6"/>
                </a:solidFill>
                <a:latin typeface="+mn-lt"/>
                <a:ea typeface="+mn-ea"/>
                <a:cs typeface="+mn-cs"/>
                <a:sym typeface="Calibri"/>
              </a:rPr>
              <a:t>CO₂eq = 28 · CH₄ + 265 · N₂O. </a:t>
            </a:r>
            <a:r>
              <a:rPr sz="1100">
                <a:solidFill>
                  <a:srgbClr val="E7E2D6"/>
                </a:solidFill>
                <a:latin typeface="+mn-lt"/>
                <a:ea typeface="+mn-ea"/>
                <a:cs typeface="+mn-cs"/>
                <a:sym typeface="Calibri"/>
              </a:rPr>
              <a:t>     28 y 265 son los potenciales de calentamiento global para el metano y el óxido nitroso, respectivamente.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1"/>
          <p:cNvSpPr txBox="1"/>
          <p:nvPr/>
        </p:nvSpPr>
        <p:spPr>
          <a:xfrm>
            <a:off x="685800" y="4983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4 · EMISIONES.IPYNB · PUNTO 2</a:t>
            </a:r>
          </a:p>
        </p:txBody>
      </p:sp>
      <p:sp>
        <p:nvSpPr>
          <p:cNvPr id="149" name="Text 2"/>
          <p:cNvSpPr txBox="1"/>
          <p:nvPr/>
        </p:nvSpPr>
        <p:spPr>
          <a:xfrm>
            <a:off x="667511" y="894079"/>
            <a:ext cx="106984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¿Qué animales están detrás de esas emisiones?</a:t>
            </a:r>
          </a:p>
        </p:txBody>
      </p:sp>
      <p:sp>
        <p:nvSpPr>
          <p:cNvPr id="150" name="Text 3"/>
          <p:cNvSpPr txBox="1"/>
          <p:nvPr/>
        </p:nvSpPr>
        <p:spPr>
          <a:xfrm>
            <a:off x="667511" y="1415481"/>
            <a:ext cx="1060704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5B6B62"/>
                </a:solidFill>
              </a:defRPr>
            </a:lvl1pPr>
          </a:lstStyle>
          <a:p>
            <a:r>
              <a:t>Dos gráficos: cuánto emite cada tipo de ganado en conjunto y cuánto emite cada animal individual</a:t>
            </a:r>
          </a:p>
        </p:txBody>
      </p:sp>
      <p:sp>
        <p:nvSpPr>
          <p:cNvPr id="151" name="Text 4"/>
          <p:cNvSpPr txBox="1"/>
          <p:nvPr/>
        </p:nvSpPr>
        <p:spPr>
          <a:xfrm>
            <a:off x="667511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B5443A"/>
                </a:solidFill>
              </a:defRPr>
            </a:lvl1pPr>
          </a:lstStyle>
          <a:p>
            <a:r>
              <a:t>EN CONJUNTO (2023)</a:t>
            </a:r>
          </a:p>
        </p:txBody>
      </p:sp>
      <p:sp>
        <p:nvSpPr>
          <p:cNvPr id="152" name="Shape 5"/>
          <p:cNvSpPr/>
          <p:nvPr/>
        </p:nvSpPr>
        <p:spPr>
          <a:xfrm>
            <a:off x="621791" y="2121407"/>
            <a:ext cx="5440681" cy="342900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" y="2258567"/>
            <a:ext cx="5166361" cy="315468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6"/>
          <p:cNvSpPr txBox="1"/>
          <p:nvPr/>
        </p:nvSpPr>
        <p:spPr>
          <a:xfrm>
            <a:off x="6217919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3A6B8F"/>
                </a:solidFill>
              </a:defRPr>
            </a:lvl1pPr>
          </a:lstStyle>
          <a:p>
            <a:r>
              <a:t>POR CABEZA Y AÑO — escala logarítmica (2023)</a:t>
            </a:r>
          </a:p>
        </p:txBody>
      </p:sp>
      <p:sp>
        <p:nvSpPr>
          <p:cNvPr id="155" name="Shape 7"/>
          <p:cNvSpPr/>
          <p:nvPr/>
        </p:nvSpPr>
        <p:spPr>
          <a:xfrm>
            <a:off x="6172200" y="2121407"/>
            <a:ext cx="5394960" cy="342900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258567"/>
            <a:ext cx="5120641" cy="3154681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8"/>
          <p:cNvSpPr/>
          <p:nvPr/>
        </p:nvSpPr>
        <p:spPr>
          <a:xfrm>
            <a:off x="621791" y="5715000"/>
            <a:ext cx="10972801" cy="822961"/>
          </a:xfrm>
          <a:prstGeom prst="roundRect">
            <a:avLst>
              <a:gd name="adj" fmla="val 8889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9"/>
          <p:cNvSpPr txBox="1"/>
          <p:nvPr/>
        </p:nvSpPr>
        <p:spPr>
          <a:xfrm>
            <a:off x="914400" y="5780838"/>
            <a:ext cx="10424160" cy="691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t>Vacunos y vacas lecheras suman el 76% del total mundial de emisiones del sector.  </a:t>
            </a:r>
            <a:r>
              <a:rPr b="0">
                <a:solidFill>
                  <a:srgbClr val="E7E2D6"/>
                </a:solidFill>
              </a:rPr>
              <a:t>Por cabeza, una vaca lechera emite tanto como 680 pollos parrilleros: no es diferencia de grado, es de naturaleza (fermentación entérica = metano). Reducir el consumo de vacuno pesa más que cualquier cambio en avicultura.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Text 1"/>
          <p:cNvSpPr txBox="1"/>
          <p:nvPr/>
        </p:nvSpPr>
        <p:spPr>
          <a:xfrm>
            <a:off x="685800" y="4983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4 · EMISIONES.IPYNB · PUNTO 3</a:t>
            </a:r>
          </a:p>
        </p:txBody>
      </p:sp>
      <p:sp>
        <p:nvSpPr>
          <p:cNvPr id="162" name="Text 2"/>
          <p:cNvSpPr txBox="1"/>
          <p:nvPr/>
        </p:nvSpPr>
        <p:spPr>
          <a:xfrm>
            <a:off x="667511" y="887730"/>
            <a:ext cx="10698482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¿Ha crecido todo por igual?</a:t>
            </a:r>
          </a:p>
        </p:txBody>
      </p:sp>
      <p:sp>
        <p:nvSpPr>
          <p:cNvPr id="163" name="Text 3"/>
          <p:cNvSpPr txBox="1"/>
          <p:nvPr/>
        </p:nvSpPr>
        <p:spPr>
          <a:xfrm>
            <a:off x="667511" y="1425379"/>
            <a:ext cx="10607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Si las emisiones dependieran solo del número de animales, ambas magnitudes crecerían al mismo ritmo</a:t>
            </a:r>
          </a:p>
        </p:txBody>
      </p:sp>
      <p:sp>
        <p:nvSpPr>
          <p:cNvPr id="164" name="Text 4"/>
          <p:cNvSpPr txBox="1"/>
          <p:nvPr/>
        </p:nvSpPr>
        <p:spPr>
          <a:xfrm>
            <a:off x="667511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3A6B8F"/>
                </a:solidFill>
              </a:defRPr>
            </a:lvl1pPr>
          </a:lstStyle>
          <a:p>
            <a:r>
              <a:t>ANIMALES VS. EMISIONES (1961 = 100)</a:t>
            </a:r>
          </a:p>
        </p:txBody>
      </p:sp>
      <p:sp>
        <p:nvSpPr>
          <p:cNvPr id="165" name="Shape 5"/>
          <p:cNvSpPr/>
          <p:nvPr/>
        </p:nvSpPr>
        <p:spPr>
          <a:xfrm>
            <a:off x="621791" y="2121407"/>
            <a:ext cx="5440681" cy="3017521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58567"/>
            <a:ext cx="5166360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6"/>
          <p:cNvSpPr txBox="1"/>
          <p:nvPr/>
        </p:nvSpPr>
        <p:spPr>
          <a:xfrm>
            <a:off x="667512" y="5229659"/>
            <a:ext cx="53492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 b="1">
                <a:solidFill>
                  <a:srgbClr val="3A6B8F"/>
                </a:solidFill>
              </a:defRPr>
            </a:pPr>
            <a:r>
              <a:t>×4,7 animales  </a:t>
            </a:r>
            <a:r>
              <a:rPr sz="1000" b="0">
                <a:solidFill>
                  <a:srgbClr val="5B6B62"/>
                </a:solidFill>
              </a:rPr>
              <a:t>vs.  </a:t>
            </a:r>
            <a:r>
              <a:rPr>
                <a:solidFill>
                  <a:srgbClr val="B5443A"/>
                </a:solidFill>
              </a:rPr>
              <a:t>×1,6 emisiones</a:t>
            </a:r>
            <a:r>
              <a:rPr sz="1000" b="0">
                <a:solidFill>
                  <a:srgbClr val="5B6B62"/>
                </a:solidFill>
              </a:rPr>
              <a:t>  (7.000 → 33.200 M cabezas)</a:t>
            </a:r>
          </a:p>
        </p:txBody>
      </p:sp>
      <p:sp>
        <p:nvSpPr>
          <p:cNvPr id="168" name="Text 7"/>
          <p:cNvSpPr txBox="1"/>
          <p:nvPr/>
        </p:nvSpPr>
        <p:spPr>
          <a:xfrm>
            <a:off x="6217919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D98C3F"/>
                </a:solidFill>
              </a:defRPr>
            </a:lvl1pPr>
          </a:lstStyle>
          <a:p>
            <a:r>
              <a:t>COMPOSICIÓN DEL CENSO MUNDIAL (%)</a:t>
            </a:r>
          </a:p>
        </p:txBody>
      </p:sp>
      <p:sp>
        <p:nvSpPr>
          <p:cNvPr id="169" name="Shape 8"/>
          <p:cNvSpPr/>
          <p:nvPr/>
        </p:nvSpPr>
        <p:spPr>
          <a:xfrm>
            <a:off x="6172200" y="2121407"/>
            <a:ext cx="5394960" cy="3017521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7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12848"/>
            <a:ext cx="5212081" cy="2880361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 9"/>
          <p:cNvSpPr txBox="1"/>
          <p:nvPr/>
        </p:nvSpPr>
        <p:spPr>
          <a:xfrm>
            <a:off x="6217919" y="5229659"/>
            <a:ext cx="5303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 b="1">
                <a:solidFill>
                  <a:srgbClr val="D98C3F"/>
                </a:solidFill>
              </a:defRPr>
            </a:pPr>
            <a:r>
              <a:t>Aves: 61,5% → 85%  </a:t>
            </a:r>
            <a:r>
              <a:rPr sz="1000" b="0">
                <a:solidFill>
                  <a:srgbClr val="5B6B62"/>
                </a:solidFill>
              </a:rPr>
              <a:t>del censo · </a:t>
            </a:r>
            <a:r>
              <a:rPr>
                <a:solidFill>
                  <a:srgbClr val="B5443A"/>
                </a:solidFill>
              </a:rPr>
              <a:t>Rumiantes: 32,7% → 12,1%</a:t>
            </a:r>
          </a:p>
        </p:txBody>
      </p:sp>
      <p:sp>
        <p:nvSpPr>
          <p:cNvPr id="172" name="Shape 10"/>
          <p:cNvSpPr/>
          <p:nvPr/>
        </p:nvSpPr>
        <p:spPr>
          <a:xfrm>
            <a:off x="621791" y="5669279"/>
            <a:ext cx="10972801" cy="868681"/>
          </a:xfrm>
          <a:prstGeom prst="roundRect">
            <a:avLst>
              <a:gd name="adj" fmla="val 8421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Text 11"/>
          <p:cNvSpPr txBox="1"/>
          <p:nvPr/>
        </p:nvSpPr>
        <p:spPr>
          <a:xfrm>
            <a:off x="914400" y="5866248"/>
            <a:ext cx="10424160" cy="474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t>Es la composición del censo lo que determina las emisiones, no su tamaño.   </a:t>
            </a:r>
            <a:r>
              <a:rPr b="0">
                <a:solidFill>
                  <a:srgbClr val="E7E2D6"/>
                </a:solidFill>
              </a:rPr>
              <a:t>El censo se multiplicó por 4,7 casi solo con aves, de bajo impacto para las emisiones. No hay mejora de eficiencia: el sector no ha reducido el impacto de criar una vaca, sino que ha añadido miles de millones de pollos.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ext 1"/>
          <p:cNvSpPr txBox="1"/>
          <p:nvPr/>
        </p:nvSpPr>
        <p:spPr>
          <a:xfrm>
            <a:off x="685800" y="4983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4 · EMISIONES.IPYNB · PUNTO 4</a:t>
            </a:r>
          </a:p>
        </p:txBody>
      </p:sp>
      <p:sp>
        <p:nvSpPr>
          <p:cNvPr id="177" name="Text 2"/>
          <p:cNvSpPr txBox="1"/>
          <p:nvPr/>
        </p:nvSpPr>
        <p:spPr>
          <a:xfrm>
            <a:off x="6203841" y="1152260"/>
            <a:ext cx="4935013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El mapa de color muestra qué especies son responsables de las emisiones dentro de cada continente¿Dónde se emite?</a:t>
            </a:r>
          </a:p>
        </p:txBody>
      </p:sp>
      <p:sp>
        <p:nvSpPr>
          <p:cNvPr id="178" name="Text 3"/>
          <p:cNvSpPr txBox="1"/>
          <p:nvPr/>
        </p:nvSpPr>
        <p:spPr>
          <a:xfrm>
            <a:off x="188358" y="1252132"/>
            <a:ext cx="563321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Al separar por continentes aparece un panorama mucho menos homogéneo que el agregado mundial. </a:t>
            </a:r>
          </a:p>
        </p:txBody>
      </p:sp>
      <p:sp>
        <p:nvSpPr>
          <p:cNvPr id="179" name="Text 4"/>
          <p:cNvSpPr txBox="1"/>
          <p:nvPr/>
        </p:nvSpPr>
        <p:spPr>
          <a:xfrm>
            <a:off x="667511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B5443A"/>
                </a:solidFill>
              </a:defRPr>
            </a:lvl1pPr>
          </a:lstStyle>
          <a:p>
            <a:r>
              <a:t>EMISIONES POR CONTINENTE (1961–2023)</a:t>
            </a:r>
          </a:p>
        </p:txBody>
      </p:sp>
      <p:sp>
        <p:nvSpPr>
          <p:cNvPr id="180" name="Shape 5"/>
          <p:cNvSpPr/>
          <p:nvPr/>
        </p:nvSpPr>
        <p:spPr>
          <a:xfrm>
            <a:off x="621791" y="2121407"/>
            <a:ext cx="5440681" cy="2880361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" y="2240279"/>
            <a:ext cx="5166361" cy="265176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22"/>
          <p:cNvSpPr txBox="1"/>
          <p:nvPr/>
        </p:nvSpPr>
        <p:spPr>
          <a:xfrm>
            <a:off x="6217919" y="1853106"/>
            <a:ext cx="5303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D98C3F"/>
                </a:solidFill>
              </a:defRPr>
            </a:lvl1pPr>
          </a:lstStyle>
          <a:p>
            <a:r>
              <a:t>PESO DE CADA ESPECIE POR CONTINENTE (%, 2023)</a:t>
            </a:r>
          </a:p>
        </p:txBody>
      </p:sp>
      <p:sp>
        <p:nvSpPr>
          <p:cNvPr id="183" name="Shape 23"/>
          <p:cNvSpPr/>
          <p:nvPr/>
        </p:nvSpPr>
        <p:spPr>
          <a:xfrm>
            <a:off x="6172200" y="2121407"/>
            <a:ext cx="5394960" cy="2880361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40279"/>
            <a:ext cx="5175505" cy="265176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25"/>
          <p:cNvSpPr/>
          <p:nvPr/>
        </p:nvSpPr>
        <p:spPr>
          <a:xfrm>
            <a:off x="317391" y="5206441"/>
            <a:ext cx="5633211" cy="1439345"/>
          </a:xfrm>
          <a:prstGeom prst="roundRect">
            <a:avLst>
              <a:gd name="adj" fmla="val 5135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26"/>
          <p:cNvSpPr txBox="1"/>
          <p:nvPr/>
        </p:nvSpPr>
        <p:spPr>
          <a:xfrm>
            <a:off x="353203" y="5363930"/>
            <a:ext cx="5303521" cy="112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t>Mismo mundo, modelos productivos distintos.  </a:t>
            </a:r>
            <a:r>
              <a:rPr b="0">
                <a:solidFill>
                  <a:srgbClr val="E7E2D6"/>
                </a:solidFill>
              </a:rPr>
              <a:t>Europa es el único continente que ha revertido la tendencia (pasó del 31% al 11% del reparto mundial); África la ha triplicado y ya alcanza el 21%. </a:t>
            </a:r>
          </a:p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rPr b="0">
                <a:solidFill>
                  <a:srgbClr val="E7E2D6"/>
                </a:solidFill>
              </a:rPr>
              <a:t>Cada continente concentra su impacto en especies distintas: no hay un patrón único.</a:t>
            </a:r>
          </a:p>
        </p:txBody>
      </p:sp>
      <p:sp>
        <p:nvSpPr>
          <p:cNvPr id="187" name="Shape 25"/>
          <p:cNvSpPr/>
          <p:nvPr/>
        </p:nvSpPr>
        <p:spPr>
          <a:xfrm>
            <a:off x="6196658" y="5206441"/>
            <a:ext cx="5774003" cy="1439345"/>
          </a:xfrm>
          <a:prstGeom prst="roundRect">
            <a:avLst>
              <a:gd name="adj" fmla="val 5135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Text 26"/>
          <p:cNvSpPr txBox="1"/>
          <p:nvPr/>
        </p:nvSpPr>
        <p:spPr>
          <a:xfrm>
            <a:off x="6316129" y="5255660"/>
            <a:ext cx="5303521" cy="134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rPr b="0">
                <a:solidFill>
                  <a:srgbClr val="E7E2D6"/>
                </a:solidFill>
              </a:rPr>
              <a:t> Los bovinos concentran el mayor porcentaje de emisiones en todos los continentes. En América, en concreto, el vacuno de carne supone casi un 80% del total de emisiones.  </a:t>
            </a:r>
          </a:p>
          <a:p>
            <a:pPr>
              <a:lnSpc>
                <a:spcPct val="108000"/>
              </a:lnSpc>
              <a:defRPr sz="1300" b="1">
                <a:solidFill>
                  <a:srgbClr val="D98C3F"/>
                </a:solidFill>
              </a:defRPr>
            </a:pPr>
            <a:r>
              <a:rPr b="0">
                <a:solidFill>
                  <a:srgbClr val="E7E2D6"/>
                </a:solidFill>
              </a:rPr>
              <a:t>En Europa y Asia, aves de corral y porcinos tienen porcentajes más elevados debido a la producción intensiva, ya que las emisiones derivadas de la producción de estos animales por cabeza son bajas.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 1"/>
          <p:cNvSpPr txBox="1"/>
          <p:nvPr/>
        </p:nvSpPr>
        <p:spPr>
          <a:xfrm>
            <a:off x="685800" y="498392"/>
            <a:ext cx="4206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4 · EMISIONES.IPYNB · PUNTO 5</a:t>
            </a:r>
          </a:p>
        </p:txBody>
      </p:sp>
      <p:sp>
        <p:nvSpPr>
          <p:cNvPr id="192" name="Text 2"/>
          <p:cNvSpPr txBox="1"/>
          <p:nvPr/>
        </p:nvSpPr>
        <p:spPr>
          <a:xfrm>
            <a:off x="667511" y="868679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Conclusiones</a:t>
            </a:r>
          </a:p>
        </p:txBody>
      </p:sp>
      <p:sp>
        <p:nvSpPr>
          <p:cNvPr id="193" name="Text 3"/>
          <p:cNvSpPr txBox="1"/>
          <p:nvPr/>
        </p:nvSpPr>
        <p:spPr>
          <a:xfrm>
            <a:off x="667511" y="1425379"/>
            <a:ext cx="90525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r>
              <a:t>Lo que muestran los datos</a:t>
            </a:r>
          </a:p>
        </p:txBody>
      </p:sp>
      <p:sp>
        <p:nvSpPr>
          <p:cNvPr id="194" name="Shape 4"/>
          <p:cNvSpPr/>
          <p:nvPr/>
        </p:nvSpPr>
        <p:spPr>
          <a:xfrm>
            <a:off x="621791" y="1874520"/>
            <a:ext cx="402337" cy="402337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Text 5"/>
          <p:cNvSpPr txBox="1"/>
          <p:nvPr/>
        </p:nvSpPr>
        <p:spPr>
          <a:xfrm>
            <a:off x="667511" y="1936690"/>
            <a:ext cx="31089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96" name="Text 6"/>
          <p:cNvSpPr txBox="1"/>
          <p:nvPr/>
        </p:nvSpPr>
        <p:spPr>
          <a:xfrm>
            <a:off x="1234439" y="1845250"/>
            <a:ext cx="10149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El impacto es grande y sigue creciendo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1234439" y="2184330"/>
            <a:ext cx="10149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r>
              <a:t>2.347 → 3.765 Mt CO₂eq entre 1961 y 2023 (+60%). No hay señal de techo.</a:t>
            </a:r>
          </a:p>
        </p:txBody>
      </p:sp>
      <p:sp>
        <p:nvSpPr>
          <p:cNvPr id="198" name="Shape 8"/>
          <p:cNvSpPr/>
          <p:nvPr/>
        </p:nvSpPr>
        <p:spPr>
          <a:xfrm>
            <a:off x="621791" y="2569464"/>
            <a:ext cx="402337" cy="402337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9"/>
          <p:cNvSpPr txBox="1"/>
          <p:nvPr/>
        </p:nvSpPr>
        <p:spPr>
          <a:xfrm>
            <a:off x="667511" y="2631634"/>
            <a:ext cx="31089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200" name="Text 10"/>
          <p:cNvSpPr txBox="1"/>
          <p:nvPr/>
        </p:nvSpPr>
        <p:spPr>
          <a:xfrm>
            <a:off x="1234439" y="2540194"/>
            <a:ext cx="10149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La responsabilidad está muy concentrada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1234439" y="2897020"/>
            <a:ext cx="10149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r>
              <a:t>Los rumiantes generan el 91,2% de las emisiones; el vacuno (carne + leche) el 75,8%, por la fermentación entérica.</a:t>
            </a:r>
          </a:p>
        </p:txBody>
      </p:sp>
      <p:sp>
        <p:nvSpPr>
          <p:cNvPr id="202" name="Shape 12"/>
          <p:cNvSpPr/>
          <p:nvPr/>
        </p:nvSpPr>
        <p:spPr>
          <a:xfrm>
            <a:off x="621791" y="3264408"/>
            <a:ext cx="402337" cy="402337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Text 13"/>
          <p:cNvSpPr txBox="1"/>
          <p:nvPr/>
        </p:nvSpPr>
        <p:spPr>
          <a:xfrm>
            <a:off x="667511" y="3326578"/>
            <a:ext cx="31089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04" name="Text 14"/>
          <p:cNvSpPr txBox="1"/>
          <p:nvPr/>
        </p:nvSpPr>
        <p:spPr>
          <a:xfrm>
            <a:off x="1234439" y="3235137"/>
            <a:ext cx="10149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La diferencia entre especies es de otro orden</a:t>
            </a:r>
          </a:p>
        </p:txBody>
      </p:sp>
      <p:sp>
        <p:nvSpPr>
          <p:cNvPr id="205" name="Text 15"/>
          <p:cNvSpPr txBox="1"/>
          <p:nvPr/>
        </p:nvSpPr>
        <p:spPr>
          <a:xfrm>
            <a:off x="1234439" y="3574219"/>
            <a:ext cx="10149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r>
              <a:t>Una vaca lechera emite al año lo mismo que 680 pollos parrilleros. No es diferencia de grado, es de naturaleza.</a:t>
            </a:r>
          </a:p>
        </p:txBody>
      </p:sp>
      <p:sp>
        <p:nvSpPr>
          <p:cNvPr id="206" name="Shape 16"/>
          <p:cNvSpPr/>
          <p:nvPr/>
        </p:nvSpPr>
        <p:spPr>
          <a:xfrm>
            <a:off x="621791" y="3959352"/>
            <a:ext cx="402337" cy="402337"/>
          </a:xfrm>
          <a:prstGeom prst="ellipse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Text 17"/>
          <p:cNvSpPr txBox="1"/>
          <p:nvPr/>
        </p:nvSpPr>
        <p:spPr>
          <a:xfrm>
            <a:off x="667511" y="4021522"/>
            <a:ext cx="31089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208" name="Text 18"/>
          <p:cNvSpPr txBox="1"/>
          <p:nvPr/>
        </p:nvSpPr>
        <p:spPr>
          <a:xfrm>
            <a:off x="1234439" y="3930081"/>
            <a:ext cx="10149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Importa más la composición que el tamaño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1234439" y="4269163"/>
            <a:ext cx="10149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r>
              <a:t>El censo se multiplicó ×4,7 y las emisiones solo ×1,6, porque el crecimiento fue casi íntegramente avícola.</a:t>
            </a:r>
          </a:p>
        </p:txBody>
      </p:sp>
      <p:sp>
        <p:nvSpPr>
          <p:cNvPr id="210" name="Shape 20"/>
          <p:cNvSpPr/>
          <p:nvPr/>
        </p:nvSpPr>
        <p:spPr>
          <a:xfrm>
            <a:off x="621791" y="4654296"/>
            <a:ext cx="402337" cy="402337"/>
          </a:xfrm>
          <a:prstGeom prst="ellipse">
            <a:avLst/>
          </a:prstGeom>
          <a:solidFill>
            <a:srgbClr val="8A6B9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21"/>
          <p:cNvSpPr txBox="1"/>
          <p:nvPr/>
        </p:nvSpPr>
        <p:spPr>
          <a:xfrm>
            <a:off x="667511" y="4716466"/>
            <a:ext cx="31089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212" name="Text 22"/>
          <p:cNvSpPr txBox="1"/>
          <p:nvPr/>
        </p:nvSpPr>
        <p:spPr>
          <a:xfrm>
            <a:off x="1234439" y="4625025"/>
            <a:ext cx="1014984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La distribución geográfica es muy desigual</a:t>
            </a:r>
          </a:p>
        </p:txBody>
      </p:sp>
      <p:sp>
        <p:nvSpPr>
          <p:cNvPr id="213" name="Text 23"/>
          <p:cNvSpPr txBox="1"/>
          <p:nvPr/>
        </p:nvSpPr>
        <p:spPr>
          <a:xfrm>
            <a:off x="1234439" y="4964107"/>
            <a:ext cx="10149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r>
              <a:t>África triplicó sus emisiones, Asia las duplicó; Europa las redujo un 43% .</a:t>
            </a:r>
          </a:p>
        </p:txBody>
      </p:sp>
      <p:sp>
        <p:nvSpPr>
          <p:cNvPr id="214" name="Shape 24"/>
          <p:cNvSpPr/>
          <p:nvPr/>
        </p:nvSpPr>
        <p:spPr>
          <a:xfrm>
            <a:off x="621791" y="5440679"/>
            <a:ext cx="10972801" cy="1051561"/>
          </a:xfrm>
          <a:prstGeom prst="roundRect">
            <a:avLst>
              <a:gd name="adj" fmla="val 8696"/>
            </a:avLst>
          </a:prstGeom>
          <a:solidFill>
            <a:srgbClr val="17291F"/>
          </a:solidFill>
          <a:ln w="12700">
            <a:solidFill>
              <a:srgbClr val="2E544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Text 26"/>
          <p:cNvSpPr txBox="1"/>
          <p:nvPr/>
        </p:nvSpPr>
        <p:spPr>
          <a:xfrm>
            <a:off x="711834" y="5509304"/>
            <a:ext cx="10413857" cy="1340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El vínculo entre alimentación y emisiones no es proporcional al volumen de ganado, sino a su composición. Reducir un 25% la cabaña de vacuno de carne evitaría unas 528 Mt CO₂eq: más que toda Europa (417 Mt) y cuatro veces más lo que se ahorraría eliminando la avicultura mundial (131 Mt).</a:t>
            </a: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Además, para producir 1 kg de carne de vaca se requieren unos 15.000 litros de agua, otro motivo que invita a replantearnos un cambio de alimentación.</a:t>
            </a: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endParaRPr/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640080" y="457200"/>
            <a:ext cx="4206241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" name="Text 1"/>
          <p:cNvSpPr txBox="1"/>
          <p:nvPr/>
        </p:nvSpPr>
        <p:spPr>
          <a:xfrm>
            <a:off x="685799" y="498392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5 · POWER BI (EMISIONES.PBIX)</a:t>
            </a:r>
          </a:p>
        </p:txBody>
      </p:sp>
      <p:sp>
        <p:nvSpPr>
          <p:cNvPr id="219" name="Text 2"/>
          <p:cNvSpPr txBox="1"/>
          <p:nvPr/>
        </p:nvSpPr>
        <p:spPr>
          <a:xfrm>
            <a:off x="667511" y="868679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El dashboard: página Vacunos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667511" y="1408286"/>
            <a:ext cx="1042416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r>
              <a:rPr dirty="0"/>
              <a:t>Power BI </a:t>
            </a:r>
            <a:r>
              <a:rPr dirty="0" err="1"/>
              <a:t>conectado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a MySQL (</a:t>
            </a:r>
            <a:r>
              <a:rPr dirty="0" err="1"/>
              <a:t>proyecto_final.dataset_fao</a:t>
            </a:r>
            <a:r>
              <a:rPr dirty="0"/>
              <a:t>) </a:t>
            </a:r>
          </a:p>
        </p:txBody>
      </p:sp>
      <p:sp>
        <p:nvSpPr>
          <p:cNvPr id="222" name="Text 5"/>
          <p:cNvSpPr txBox="1"/>
          <p:nvPr/>
        </p:nvSpPr>
        <p:spPr>
          <a:xfrm>
            <a:off x="868680" y="2707290"/>
            <a:ext cx="302083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rPr dirty="0"/>
              <a:t>VACUNOS  ·  </a:t>
            </a:r>
            <a:r>
              <a:rPr dirty="0" err="1"/>
              <a:t>vacas</a:t>
            </a:r>
            <a:r>
              <a:rPr dirty="0"/>
              <a:t> </a:t>
            </a:r>
            <a:r>
              <a:rPr dirty="0" err="1"/>
              <a:t>lecheras</a:t>
            </a:r>
            <a:r>
              <a:rPr dirty="0"/>
              <a:t> + </a:t>
            </a:r>
            <a:r>
              <a:rPr dirty="0" err="1"/>
              <a:t>vacunos</a:t>
            </a:r>
            <a:r>
              <a:rPr dirty="0"/>
              <a:t>, </a:t>
            </a:r>
            <a:r>
              <a:rPr dirty="0" err="1"/>
              <a:t>otros</a:t>
            </a:r>
            <a:endParaRPr dirty="0"/>
          </a:p>
        </p:txBody>
      </p:sp>
      <p:sp>
        <p:nvSpPr>
          <p:cNvPr id="225" name="Text 8"/>
          <p:cNvSpPr txBox="1"/>
          <p:nvPr/>
        </p:nvSpPr>
        <p:spPr>
          <a:xfrm>
            <a:off x="1078991" y="2545488"/>
            <a:ext cx="201168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FB6A8"/>
                </a:solidFill>
              </a:defRPr>
            </a:lvl1pPr>
          </a:lstStyle>
          <a:p>
            <a:endParaRPr dirty="0"/>
          </a:p>
        </p:txBody>
      </p:sp>
      <p:sp>
        <p:nvSpPr>
          <p:cNvPr id="226" name="Text 9"/>
          <p:cNvSpPr txBox="1"/>
          <p:nvPr/>
        </p:nvSpPr>
        <p:spPr>
          <a:xfrm>
            <a:off x="1078991" y="2738068"/>
            <a:ext cx="201168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endParaRPr dirty="0"/>
          </a:p>
        </p:txBody>
      </p:sp>
      <p:sp>
        <p:nvSpPr>
          <p:cNvPr id="236" name="Text 19"/>
          <p:cNvSpPr txBox="1"/>
          <p:nvPr/>
        </p:nvSpPr>
        <p:spPr>
          <a:xfrm>
            <a:off x="8595359" y="2530322"/>
            <a:ext cx="173736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8A6B9C"/>
                </a:solidFill>
              </a:defRPr>
            </a:lvl1pPr>
          </a:lstStyle>
          <a:p>
            <a:endParaRPr dirty="0"/>
          </a:p>
        </p:txBody>
      </p:sp>
      <p:sp>
        <p:nvSpPr>
          <p:cNvPr id="237" name="Text 20"/>
          <p:cNvSpPr txBox="1"/>
          <p:nvPr/>
        </p:nvSpPr>
        <p:spPr>
          <a:xfrm>
            <a:off x="8595359" y="2833524"/>
            <a:ext cx="1737361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D6E5DA"/>
                </a:solidFill>
              </a:defRPr>
            </a:pPr>
            <a:endParaRPr dirty="0"/>
          </a:p>
        </p:txBody>
      </p:sp>
      <p:sp>
        <p:nvSpPr>
          <p:cNvPr id="265" name="Text 48"/>
          <p:cNvSpPr txBox="1"/>
          <p:nvPr/>
        </p:nvSpPr>
        <p:spPr>
          <a:xfrm>
            <a:off x="4389119" y="5454730"/>
            <a:ext cx="694944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i="1">
                <a:solidFill>
                  <a:srgbClr val="9FB6A8"/>
                </a:solidFill>
              </a:defRPr>
            </a:lvl1pPr>
          </a:lstStyle>
          <a:p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852957-5E16-2A86-F74A-A27E787B498B}"/>
              </a:ext>
            </a:extLst>
          </p:cNvPr>
          <p:cNvSpPr txBox="1"/>
          <p:nvPr/>
        </p:nvSpPr>
        <p:spPr>
          <a:xfrm>
            <a:off x="4452730" y="1976814"/>
            <a:ext cx="257754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Demo Power BI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974C5AC-6ED2-1155-2807-C92F1635DE46}"/>
              </a:ext>
            </a:extLst>
          </p:cNvPr>
          <p:cNvSpPr txBox="1"/>
          <p:nvPr/>
        </p:nvSpPr>
        <p:spPr>
          <a:xfrm>
            <a:off x="868679" y="3194336"/>
            <a:ext cx="416052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s-ES" dirty="0"/>
              <a:t>AVES</a:t>
            </a:r>
            <a:r>
              <a:rPr dirty="0"/>
              <a:t>  · </a:t>
            </a:r>
            <a:r>
              <a:rPr lang="es-ES" dirty="0"/>
              <a:t>gallinas, parrilleras</a:t>
            </a:r>
            <a:r>
              <a:rPr dirty="0"/>
              <a:t> + </a:t>
            </a:r>
            <a:r>
              <a:rPr lang="es-ES" dirty="0"/>
              <a:t>gallinas ponedoras + patos + pavos</a:t>
            </a:r>
            <a:endParaRPr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95FA4C9-7D27-851C-CFFB-4FD490A8163A}"/>
              </a:ext>
            </a:extLst>
          </p:cNvPr>
          <p:cNvSpPr txBox="1"/>
          <p:nvPr/>
        </p:nvSpPr>
        <p:spPr>
          <a:xfrm>
            <a:off x="868679" y="4122338"/>
            <a:ext cx="302083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s-ES" dirty="0"/>
              <a:t>OVINOS / CAPRINOS</a:t>
            </a:r>
            <a:endParaRPr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ADEBD9-D916-F0E8-A171-54D015EDAB4B}"/>
              </a:ext>
            </a:extLst>
          </p:cNvPr>
          <p:cNvSpPr txBox="1"/>
          <p:nvPr/>
        </p:nvSpPr>
        <p:spPr>
          <a:xfrm>
            <a:off x="868679" y="3658337"/>
            <a:ext cx="302083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s-ES" dirty="0"/>
              <a:t>PORCINOS</a:t>
            </a:r>
            <a:r>
              <a:rPr dirty="0"/>
              <a:t>  ·  </a:t>
            </a:r>
            <a:r>
              <a:rPr lang="es-ES" dirty="0"/>
              <a:t>porcinos, carne + porcinos, cría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640080" y="45720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Text 1"/>
          <p:cNvSpPr txBox="1"/>
          <p:nvPr/>
        </p:nvSpPr>
        <p:spPr>
          <a:xfrm>
            <a:off x="685799" y="498392"/>
            <a:ext cx="28346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6 · N8N</a:t>
            </a:r>
          </a:p>
        </p:txBody>
      </p:sp>
      <p:sp>
        <p:nvSpPr>
          <p:cNvPr id="271" name="Shape 2"/>
          <p:cNvSpPr/>
          <p:nvPr/>
        </p:nvSpPr>
        <p:spPr>
          <a:xfrm>
            <a:off x="3703320" y="4572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Text 3"/>
          <p:cNvSpPr txBox="1"/>
          <p:nvPr/>
        </p:nvSpPr>
        <p:spPr>
          <a:xfrm>
            <a:off x="3749040" y="4983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● DEMO EN VIVO</a:t>
            </a:r>
          </a:p>
        </p:txBody>
      </p:sp>
      <p:sp>
        <p:nvSpPr>
          <p:cNvPr id="273" name="Text 4"/>
          <p:cNvSpPr txBox="1"/>
          <p:nvPr/>
        </p:nvSpPr>
        <p:spPr>
          <a:xfrm>
            <a:off x="667511" y="868679"/>
            <a:ext cx="90525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Automatización con n8n</a:t>
            </a:r>
          </a:p>
        </p:txBody>
      </p:sp>
      <p:sp>
        <p:nvSpPr>
          <p:cNvPr id="274" name="Text 5"/>
          <p:cNvSpPr txBox="1"/>
          <p:nvPr/>
        </p:nvSpPr>
        <p:spPr>
          <a:xfrm>
            <a:off x="667511" y="1425379"/>
            <a:ext cx="9966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r>
              <a:t>emisiones_workflow_n8n.json — consulta MySQL y envía un resumen por Telegram</a:t>
            </a:r>
          </a:p>
        </p:txBody>
      </p:sp>
      <p:sp>
        <p:nvSpPr>
          <p:cNvPr id="275" name="Shape 6"/>
          <p:cNvSpPr/>
          <p:nvPr/>
        </p:nvSpPr>
        <p:spPr>
          <a:xfrm>
            <a:off x="621791" y="2057400"/>
            <a:ext cx="1325882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5B6B6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6" name="Text 7"/>
          <p:cNvSpPr txBox="1"/>
          <p:nvPr/>
        </p:nvSpPr>
        <p:spPr>
          <a:xfrm>
            <a:off x="667511" y="2166619"/>
            <a:ext cx="123444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▶</a:t>
            </a:r>
          </a:p>
        </p:txBody>
      </p:sp>
      <p:sp>
        <p:nvSpPr>
          <p:cNvPr id="277" name="Text 8"/>
          <p:cNvSpPr txBox="1"/>
          <p:nvPr/>
        </p:nvSpPr>
        <p:spPr>
          <a:xfrm>
            <a:off x="667511" y="2606039"/>
            <a:ext cx="12344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solidFill>
                  <a:srgbClr val="22302A"/>
                </a:solidFill>
              </a:defRPr>
            </a:pPr>
            <a:r>
              <a:t>Ejecución</a:t>
            </a:r>
          </a:p>
          <a:p>
            <a:pPr algn="ctr">
              <a:defRPr sz="1000" b="1">
                <a:solidFill>
                  <a:srgbClr val="22302A"/>
                </a:solidFill>
              </a:defRPr>
            </a:pPr>
            <a:r>
              <a:t>manual</a:t>
            </a:r>
          </a:p>
        </p:txBody>
      </p:sp>
      <p:sp>
        <p:nvSpPr>
          <p:cNvPr id="278" name="Text 9"/>
          <p:cNvSpPr txBox="1"/>
          <p:nvPr/>
        </p:nvSpPr>
        <p:spPr>
          <a:xfrm>
            <a:off x="1993392" y="249681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79" name="Shape 10"/>
          <p:cNvSpPr/>
          <p:nvPr/>
        </p:nvSpPr>
        <p:spPr>
          <a:xfrm>
            <a:off x="2084832" y="205740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5443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0" name="Text 11"/>
          <p:cNvSpPr txBox="1"/>
          <p:nvPr/>
        </p:nvSpPr>
        <p:spPr>
          <a:xfrm>
            <a:off x="2130552" y="2141219"/>
            <a:ext cx="1234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🐮</a:t>
            </a:r>
          </a:p>
        </p:txBody>
      </p:sp>
      <p:sp>
        <p:nvSpPr>
          <p:cNvPr id="281" name="Text 12"/>
          <p:cNvSpPr txBox="1"/>
          <p:nvPr/>
        </p:nvSpPr>
        <p:spPr>
          <a:xfrm>
            <a:off x="2130552" y="2606039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Vacunos</a:t>
            </a:r>
          </a:p>
        </p:txBody>
      </p:sp>
      <p:sp>
        <p:nvSpPr>
          <p:cNvPr id="282" name="Text 13"/>
          <p:cNvSpPr txBox="1"/>
          <p:nvPr/>
        </p:nvSpPr>
        <p:spPr>
          <a:xfrm>
            <a:off x="3456432" y="249681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83" name="Shape 14"/>
          <p:cNvSpPr/>
          <p:nvPr/>
        </p:nvSpPr>
        <p:spPr>
          <a:xfrm>
            <a:off x="3547871" y="205740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98C3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4" name="Text 15"/>
          <p:cNvSpPr txBox="1"/>
          <p:nvPr/>
        </p:nvSpPr>
        <p:spPr>
          <a:xfrm>
            <a:off x="3593591" y="2141219"/>
            <a:ext cx="1234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🐔</a:t>
            </a:r>
          </a:p>
        </p:txBody>
      </p:sp>
      <p:sp>
        <p:nvSpPr>
          <p:cNvPr id="285" name="Text 16"/>
          <p:cNvSpPr txBox="1"/>
          <p:nvPr/>
        </p:nvSpPr>
        <p:spPr>
          <a:xfrm>
            <a:off x="3593591" y="2606039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Aves</a:t>
            </a:r>
          </a:p>
        </p:txBody>
      </p:sp>
      <p:sp>
        <p:nvSpPr>
          <p:cNvPr id="286" name="Text 17"/>
          <p:cNvSpPr txBox="1"/>
          <p:nvPr/>
        </p:nvSpPr>
        <p:spPr>
          <a:xfrm>
            <a:off x="4919472" y="249681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87" name="Shape 18"/>
          <p:cNvSpPr/>
          <p:nvPr/>
        </p:nvSpPr>
        <p:spPr>
          <a:xfrm>
            <a:off x="5010911" y="205740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Text 19"/>
          <p:cNvSpPr txBox="1"/>
          <p:nvPr/>
        </p:nvSpPr>
        <p:spPr>
          <a:xfrm>
            <a:off x="5056632" y="2141219"/>
            <a:ext cx="1234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🐑</a:t>
            </a:r>
          </a:p>
        </p:txBody>
      </p:sp>
      <p:sp>
        <p:nvSpPr>
          <p:cNvPr id="289" name="Text 20"/>
          <p:cNvSpPr txBox="1"/>
          <p:nvPr/>
        </p:nvSpPr>
        <p:spPr>
          <a:xfrm>
            <a:off x="5056632" y="2606039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Ovinos</a:t>
            </a:r>
          </a:p>
        </p:txBody>
      </p:sp>
      <p:sp>
        <p:nvSpPr>
          <p:cNvPr id="290" name="Text 21"/>
          <p:cNvSpPr txBox="1"/>
          <p:nvPr/>
        </p:nvSpPr>
        <p:spPr>
          <a:xfrm>
            <a:off x="6382511" y="249681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91" name="Shape 22"/>
          <p:cNvSpPr/>
          <p:nvPr/>
        </p:nvSpPr>
        <p:spPr>
          <a:xfrm>
            <a:off x="6473952" y="205740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2" name="Text 23"/>
          <p:cNvSpPr txBox="1"/>
          <p:nvPr/>
        </p:nvSpPr>
        <p:spPr>
          <a:xfrm>
            <a:off x="6519671" y="2141219"/>
            <a:ext cx="1234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🐐</a:t>
            </a:r>
          </a:p>
        </p:txBody>
      </p:sp>
      <p:sp>
        <p:nvSpPr>
          <p:cNvPr id="293" name="Text 24"/>
          <p:cNvSpPr txBox="1"/>
          <p:nvPr/>
        </p:nvSpPr>
        <p:spPr>
          <a:xfrm>
            <a:off x="6519671" y="2606039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Caprinos</a:t>
            </a:r>
          </a:p>
        </p:txBody>
      </p:sp>
      <p:sp>
        <p:nvSpPr>
          <p:cNvPr id="294" name="Text 25"/>
          <p:cNvSpPr txBox="1"/>
          <p:nvPr/>
        </p:nvSpPr>
        <p:spPr>
          <a:xfrm>
            <a:off x="7845551" y="2496819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95" name="Shape 26"/>
          <p:cNvSpPr/>
          <p:nvPr/>
        </p:nvSpPr>
        <p:spPr>
          <a:xfrm>
            <a:off x="7936992" y="2057400"/>
            <a:ext cx="1325881" cy="105156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3A6B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6" name="Text 27"/>
          <p:cNvSpPr txBox="1"/>
          <p:nvPr/>
        </p:nvSpPr>
        <p:spPr>
          <a:xfrm>
            <a:off x="7982711" y="2141219"/>
            <a:ext cx="12344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/>
            </a:lvl1pPr>
          </a:lstStyle>
          <a:p>
            <a:r>
              <a:t>🐷</a:t>
            </a:r>
          </a:p>
        </p:txBody>
      </p:sp>
      <p:sp>
        <p:nvSpPr>
          <p:cNvPr id="297" name="Text 28"/>
          <p:cNvSpPr txBox="1"/>
          <p:nvPr/>
        </p:nvSpPr>
        <p:spPr>
          <a:xfrm>
            <a:off x="7982711" y="2606039"/>
            <a:ext cx="1234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Porcinos</a:t>
            </a:r>
          </a:p>
        </p:txBody>
      </p:sp>
      <p:sp>
        <p:nvSpPr>
          <p:cNvPr id="298" name="Text 29"/>
          <p:cNvSpPr txBox="1"/>
          <p:nvPr/>
        </p:nvSpPr>
        <p:spPr>
          <a:xfrm>
            <a:off x="9445751" y="2431218"/>
            <a:ext cx="1828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299" name="Shape 30"/>
          <p:cNvSpPr/>
          <p:nvPr/>
        </p:nvSpPr>
        <p:spPr>
          <a:xfrm>
            <a:off x="9674352" y="1965960"/>
            <a:ext cx="1737361" cy="1234440"/>
          </a:xfrm>
          <a:prstGeom prst="roundRect">
            <a:avLst>
              <a:gd name="adj" fmla="val 5926"/>
            </a:avLst>
          </a:prstGeom>
          <a:solidFill>
            <a:srgbClr val="1F9B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0" name="Text 31"/>
          <p:cNvSpPr txBox="1"/>
          <p:nvPr/>
        </p:nvSpPr>
        <p:spPr>
          <a:xfrm>
            <a:off x="9720071" y="2054097"/>
            <a:ext cx="16459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</a:defRPr>
            </a:lvl1pPr>
          </a:lstStyle>
          <a:p>
            <a:r>
              <a:t>✈</a:t>
            </a:r>
          </a:p>
        </p:txBody>
      </p:sp>
      <p:sp>
        <p:nvSpPr>
          <p:cNvPr id="301" name="Text 32"/>
          <p:cNvSpPr txBox="1"/>
          <p:nvPr/>
        </p:nvSpPr>
        <p:spPr>
          <a:xfrm>
            <a:off x="9720071" y="2534334"/>
            <a:ext cx="16459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Telegram</a:t>
            </a:r>
          </a:p>
        </p:txBody>
      </p:sp>
      <p:sp>
        <p:nvSpPr>
          <p:cNvPr id="302" name="Text 33"/>
          <p:cNvSpPr txBox="1"/>
          <p:nvPr/>
        </p:nvSpPr>
        <p:spPr>
          <a:xfrm>
            <a:off x="9720071" y="2823499"/>
            <a:ext cx="16459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E4F3FA"/>
                </a:solidFill>
              </a:defRPr>
            </a:lvl1pPr>
          </a:lstStyle>
          <a:p>
            <a:r>
              <a:t>mensaje final</a:t>
            </a:r>
          </a:p>
        </p:txBody>
      </p:sp>
      <p:sp>
        <p:nvSpPr>
          <p:cNvPr id="303" name="Text 34"/>
          <p:cNvSpPr txBox="1"/>
          <p:nvPr/>
        </p:nvSpPr>
        <p:spPr>
          <a:xfrm>
            <a:off x="667511" y="3430446"/>
            <a:ext cx="10881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i="1">
                <a:solidFill>
                  <a:srgbClr val="5B6B62"/>
                </a:solidFill>
              </a:defRPr>
            </a:lvl1pPr>
          </a:lstStyle>
          <a:p>
            <a:r>
              <a:t>Cada nodo lanza una consulta SQL sobre dataset_fao filtrando por producto, elemento = 'Existencias' y año = 2023, agrupando por área (continente).</a:t>
            </a:r>
          </a:p>
        </p:txBody>
      </p:sp>
      <p:sp>
        <p:nvSpPr>
          <p:cNvPr id="304" name="Text 35"/>
          <p:cNvSpPr txBox="1"/>
          <p:nvPr/>
        </p:nvSpPr>
        <p:spPr>
          <a:xfrm>
            <a:off x="667511" y="3956226"/>
            <a:ext cx="53949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1F9BD1"/>
                </a:solidFill>
              </a:defRPr>
            </a:lvl1pPr>
          </a:lstStyle>
          <a:p>
            <a:r>
              <a:t>MENSAJE RESULTANTE EN TELEGRAM</a:t>
            </a:r>
          </a:p>
        </p:txBody>
      </p:sp>
      <p:sp>
        <p:nvSpPr>
          <p:cNvPr id="305" name="Shape 36"/>
          <p:cNvSpPr/>
          <p:nvPr/>
        </p:nvSpPr>
        <p:spPr>
          <a:xfrm>
            <a:off x="621791" y="4251959"/>
            <a:ext cx="5532122" cy="2331721"/>
          </a:xfrm>
          <a:prstGeom prst="roundRect">
            <a:avLst>
              <a:gd name="adj" fmla="val 4706"/>
            </a:avLst>
          </a:prstGeom>
          <a:solidFill>
            <a:srgbClr val="E7F3FA"/>
          </a:solidFill>
          <a:ln w="12700">
            <a:solidFill>
              <a:srgbClr val="BFE0E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6" name="Text 37"/>
          <p:cNvSpPr txBox="1"/>
          <p:nvPr/>
        </p:nvSpPr>
        <p:spPr>
          <a:xfrm>
            <a:off x="868679" y="4592320"/>
            <a:ext cx="5029201" cy="165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Resumen de 2023:</a:t>
            </a:r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/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🐮 Vacunos: </a:t>
            </a:r>
            <a:r>
              <a:rPr b="0"/>
              <a:t>Américas: 456… Asia: 512…</a:t>
            </a:r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🐷 Porcinos: </a:t>
            </a:r>
            <a:r>
              <a:rPr b="0"/>
              <a:t>Américas: 210… Asia: 890…</a:t>
            </a:r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🐔 Gallinas: </a:t>
            </a:r>
            <a:r>
              <a:rPr b="0"/>
              <a:t>Américas: 3.400… Asia: 9.100…</a:t>
            </a:r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🐐 Caprinos: </a:t>
            </a:r>
            <a:r>
              <a:rPr b="0"/>
              <a:t>África: 320… Asia: 610…</a:t>
            </a:r>
          </a:p>
          <a:p>
            <a:pPr>
              <a:lnSpc>
                <a:spcPct val="115000"/>
              </a:lnSpc>
              <a:defRPr sz="1000" b="1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🐑 Ovinos: </a:t>
            </a:r>
            <a:r>
              <a:rPr b="0"/>
              <a:t>Asia: 620… África: 380…</a:t>
            </a:r>
          </a:p>
        </p:txBody>
      </p:sp>
      <p:sp>
        <p:nvSpPr>
          <p:cNvPr id="307" name="Shape 38"/>
          <p:cNvSpPr/>
          <p:nvPr/>
        </p:nvSpPr>
        <p:spPr>
          <a:xfrm>
            <a:off x="6355079" y="4251959"/>
            <a:ext cx="5212081" cy="2331721"/>
          </a:xfrm>
          <a:prstGeom prst="roundRect">
            <a:avLst>
              <a:gd name="adj" fmla="val 3922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ext 39"/>
          <p:cNvSpPr txBox="1"/>
          <p:nvPr/>
        </p:nvSpPr>
        <p:spPr>
          <a:xfrm>
            <a:off x="6629400" y="4431714"/>
            <a:ext cx="46634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D98C3F"/>
                </a:solidFill>
              </a:defRPr>
            </a:lvl1pPr>
          </a:lstStyle>
          <a:p>
            <a:r>
              <a:t>QUÉ DEMUESTRA</a:t>
            </a:r>
          </a:p>
        </p:txBody>
      </p:sp>
      <p:sp>
        <p:nvSpPr>
          <p:cNvPr id="309" name="Text 40"/>
          <p:cNvSpPr txBox="1"/>
          <p:nvPr/>
        </p:nvSpPr>
        <p:spPr>
          <a:xfrm>
            <a:off x="6629400" y="4870626"/>
            <a:ext cx="137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10" name="Text 41"/>
          <p:cNvSpPr txBox="1"/>
          <p:nvPr/>
        </p:nvSpPr>
        <p:spPr>
          <a:xfrm>
            <a:off x="6858000" y="4914944"/>
            <a:ext cx="45262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El sistema puede “vivir solo”: sin abrir Python, SQL ni Power BI, se dispara con un clic.</a:t>
            </a:r>
          </a:p>
        </p:txBody>
      </p:sp>
      <p:sp>
        <p:nvSpPr>
          <p:cNvPr id="311" name="Text 42"/>
          <p:cNvSpPr txBox="1"/>
          <p:nvPr/>
        </p:nvSpPr>
        <p:spPr>
          <a:xfrm>
            <a:off x="6629400" y="5437554"/>
            <a:ext cx="137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12" name="Text 43"/>
          <p:cNvSpPr txBox="1"/>
          <p:nvPr/>
        </p:nvSpPr>
        <p:spPr>
          <a:xfrm>
            <a:off x="6858000" y="5481872"/>
            <a:ext cx="45262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Consulta en tiempo real a MySQL — mismos datos que el resto del proyecto.</a:t>
            </a:r>
          </a:p>
        </p:txBody>
      </p:sp>
      <p:sp>
        <p:nvSpPr>
          <p:cNvPr id="313" name="Text 44"/>
          <p:cNvSpPr txBox="1"/>
          <p:nvPr/>
        </p:nvSpPr>
        <p:spPr>
          <a:xfrm>
            <a:off x="6629400" y="6004482"/>
            <a:ext cx="137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14" name="Text 45"/>
          <p:cNvSpPr txBox="1"/>
          <p:nvPr/>
        </p:nvSpPr>
        <p:spPr>
          <a:xfrm>
            <a:off x="6858000" y="6048800"/>
            <a:ext cx="45262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Resultado entregado donde se consume de verdad: el móvil, vía Telegram.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0"/>
          <p:cNvSpPr/>
          <p:nvPr/>
        </p:nvSpPr>
        <p:spPr>
          <a:xfrm>
            <a:off x="640080" y="457200"/>
            <a:ext cx="3383280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7" name="Text 1"/>
          <p:cNvSpPr txBox="1"/>
          <p:nvPr/>
        </p:nvSpPr>
        <p:spPr>
          <a:xfrm>
            <a:off x="685800" y="498392"/>
            <a:ext cx="32918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 spc="100">
                <a:solidFill>
                  <a:srgbClr val="FFFFFF"/>
                </a:solidFill>
              </a:defRPr>
            </a:lvl1pPr>
          </a:lstStyle>
          <a:p>
            <a:r>
              <a:t>PASO 6 · N8N · AGENTE IA</a:t>
            </a:r>
          </a:p>
        </p:txBody>
      </p:sp>
      <p:sp>
        <p:nvSpPr>
          <p:cNvPr id="318" name="Shape 2"/>
          <p:cNvSpPr/>
          <p:nvPr/>
        </p:nvSpPr>
        <p:spPr>
          <a:xfrm>
            <a:off x="4160520" y="4572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9" name="Text 3"/>
          <p:cNvSpPr txBox="1"/>
          <p:nvPr/>
        </p:nvSpPr>
        <p:spPr>
          <a:xfrm>
            <a:off x="4206240" y="498392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● DEMO EN VIVO</a:t>
            </a:r>
          </a:p>
        </p:txBody>
      </p:sp>
      <p:sp>
        <p:nvSpPr>
          <p:cNvPr id="320" name="Text 4"/>
          <p:cNvSpPr txBox="1"/>
          <p:nvPr/>
        </p:nvSpPr>
        <p:spPr>
          <a:xfrm>
            <a:off x="667511" y="906779"/>
            <a:ext cx="1088136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500" b="1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Automatización con n8n — agente conversacional</a:t>
            </a:r>
          </a:p>
        </p:txBody>
      </p:sp>
      <p:sp>
        <p:nvSpPr>
          <p:cNvPr id="321" name="Text 5"/>
          <p:cNvSpPr txBox="1"/>
          <p:nvPr/>
        </p:nvSpPr>
        <p:spPr>
          <a:xfrm>
            <a:off x="667512" y="1430327"/>
            <a:ext cx="1078992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r>
              <a:t>emisiones_agente.json — chatbot en Telegram que traduce preguntas en lenguaje natural a SQL con un LLM</a:t>
            </a:r>
          </a:p>
        </p:txBody>
      </p:sp>
      <p:sp>
        <p:nvSpPr>
          <p:cNvPr id="322" name="Shape 6"/>
          <p:cNvSpPr/>
          <p:nvPr/>
        </p:nvSpPr>
        <p:spPr>
          <a:xfrm>
            <a:off x="621791" y="1874520"/>
            <a:ext cx="1508762" cy="960121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F9BD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Text 7"/>
          <p:cNvSpPr txBox="1"/>
          <p:nvPr/>
        </p:nvSpPr>
        <p:spPr>
          <a:xfrm>
            <a:off x="667511" y="1951481"/>
            <a:ext cx="141732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r>
              <a:t>✈</a:t>
            </a:r>
          </a:p>
        </p:txBody>
      </p:sp>
      <p:sp>
        <p:nvSpPr>
          <p:cNvPr id="324" name="Text 8"/>
          <p:cNvSpPr txBox="1"/>
          <p:nvPr/>
        </p:nvSpPr>
        <p:spPr>
          <a:xfrm>
            <a:off x="667511" y="2226354"/>
            <a:ext cx="141732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22302A"/>
                </a:solidFill>
              </a:defRPr>
            </a:pPr>
            <a:r>
              <a:t>Telegram</a:t>
            </a:r>
          </a:p>
          <a:p>
            <a:pPr algn="ctr">
              <a:defRPr sz="1000" b="1">
                <a:solidFill>
                  <a:srgbClr val="22302A"/>
                </a:solidFill>
              </a:defRPr>
            </a:pPr>
            <a:r>
              <a:t>Trigger</a:t>
            </a:r>
          </a:p>
        </p:txBody>
      </p:sp>
      <p:sp>
        <p:nvSpPr>
          <p:cNvPr id="325" name="Text 9"/>
          <p:cNvSpPr txBox="1"/>
          <p:nvPr/>
        </p:nvSpPr>
        <p:spPr>
          <a:xfrm>
            <a:off x="713232" y="2558699"/>
            <a:ext cx="132588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r>
              <a:t>cualquier mensaje</a:t>
            </a:r>
          </a:p>
        </p:txBody>
      </p:sp>
      <p:sp>
        <p:nvSpPr>
          <p:cNvPr id="326" name="Text 10"/>
          <p:cNvSpPr txBox="1"/>
          <p:nvPr/>
        </p:nvSpPr>
        <p:spPr>
          <a:xfrm>
            <a:off x="2194560" y="2192721"/>
            <a:ext cx="2286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27" name="Shape 11"/>
          <p:cNvSpPr/>
          <p:nvPr/>
        </p:nvSpPr>
        <p:spPr>
          <a:xfrm>
            <a:off x="2487167" y="1783079"/>
            <a:ext cx="2148841" cy="1143001"/>
          </a:xfrm>
          <a:prstGeom prst="roundRect">
            <a:avLst>
              <a:gd name="adj" fmla="val 6400"/>
            </a:avLst>
          </a:prstGeom>
          <a:solidFill>
            <a:srgbClr val="8A6B9C"/>
          </a:solidFill>
          <a:ln w="12700">
            <a:solidFill>
              <a:srgbClr val="8A6B9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8" name="Text 12"/>
          <p:cNvSpPr txBox="1"/>
          <p:nvPr/>
        </p:nvSpPr>
        <p:spPr>
          <a:xfrm>
            <a:off x="2532888" y="1815591"/>
            <a:ext cx="20574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🤖</a:t>
            </a:r>
          </a:p>
        </p:txBody>
      </p:sp>
      <p:sp>
        <p:nvSpPr>
          <p:cNvPr id="329" name="Text 13"/>
          <p:cNvSpPr txBox="1"/>
          <p:nvPr/>
        </p:nvSpPr>
        <p:spPr>
          <a:xfrm>
            <a:off x="2532888" y="2217464"/>
            <a:ext cx="20574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AI Agent</a:t>
            </a:r>
          </a:p>
        </p:txBody>
      </p:sp>
      <p:sp>
        <p:nvSpPr>
          <p:cNvPr id="330" name="Text 14"/>
          <p:cNvSpPr txBox="1"/>
          <p:nvPr/>
        </p:nvSpPr>
        <p:spPr>
          <a:xfrm>
            <a:off x="2578608" y="2467259"/>
            <a:ext cx="196596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E4F3FA"/>
                </a:solidFill>
              </a:defRPr>
            </a:lvl1pPr>
          </a:lstStyle>
          <a:p>
            <a:r>
              <a:t>GPT-5-mini · agente ReAct</a:t>
            </a:r>
          </a:p>
        </p:txBody>
      </p:sp>
      <p:sp>
        <p:nvSpPr>
          <p:cNvPr id="331" name="Text 15"/>
          <p:cNvSpPr txBox="1"/>
          <p:nvPr/>
        </p:nvSpPr>
        <p:spPr>
          <a:xfrm>
            <a:off x="4700016" y="2192721"/>
            <a:ext cx="2286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32" name="Shape 16"/>
          <p:cNvSpPr/>
          <p:nvPr/>
        </p:nvSpPr>
        <p:spPr>
          <a:xfrm>
            <a:off x="4992623" y="1874520"/>
            <a:ext cx="1600201" cy="960121"/>
          </a:xfrm>
          <a:prstGeom prst="roundRect">
            <a:avLst>
              <a:gd name="adj" fmla="val 7619"/>
            </a:avLst>
          </a:prstGeom>
          <a:solidFill>
            <a:srgbClr val="1F9BD1"/>
          </a:solidFill>
          <a:ln w="12700">
            <a:solidFill>
              <a:srgbClr val="1F9BD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3" name="Text 17"/>
          <p:cNvSpPr txBox="1"/>
          <p:nvPr/>
        </p:nvSpPr>
        <p:spPr>
          <a:xfrm>
            <a:off x="5038344" y="1951481"/>
            <a:ext cx="150876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✈</a:t>
            </a:r>
          </a:p>
        </p:txBody>
      </p:sp>
      <p:sp>
        <p:nvSpPr>
          <p:cNvPr id="334" name="Text 18"/>
          <p:cNvSpPr txBox="1"/>
          <p:nvPr/>
        </p:nvSpPr>
        <p:spPr>
          <a:xfrm>
            <a:off x="5038344" y="2308904"/>
            <a:ext cx="1508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Telegram</a:t>
            </a:r>
          </a:p>
        </p:txBody>
      </p:sp>
      <p:sp>
        <p:nvSpPr>
          <p:cNvPr id="335" name="Text 19"/>
          <p:cNvSpPr txBox="1"/>
          <p:nvPr/>
        </p:nvSpPr>
        <p:spPr>
          <a:xfrm>
            <a:off x="5084064" y="2558699"/>
            <a:ext cx="141732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E4F3FA"/>
                </a:solidFill>
              </a:defRPr>
            </a:lvl1pPr>
          </a:lstStyle>
          <a:p>
            <a:r>
              <a:t>respuesta al chat</a:t>
            </a:r>
          </a:p>
        </p:txBody>
      </p:sp>
      <p:sp>
        <p:nvSpPr>
          <p:cNvPr id="336" name="Shape 20"/>
          <p:cNvSpPr/>
          <p:nvPr/>
        </p:nvSpPr>
        <p:spPr>
          <a:xfrm>
            <a:off x="2834639" y="2926079"/>
            <a:ext cx="726949" cy="457201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7" name="Shape 21"/>
          <p:cNvSpPr/>
          <p:nvPr/>
        </p:nvSpPr>
        <p:spPr>
          <a:xfrm>
            <a:off x="3561587" y="2926079"/>
            <a:ext cx="1376173" cy="457202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8" name="Shape 22"/>
          <p:cNvSpPr/>
          <p:nvPr/>
        </p:nvSpPr>
        <p:spPr>
          <a:xfrm>
            <a:off x="3561588" y="2926080"/>
            <a:ext cx="3479293" cy="457200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9" name="Shape 23"/>
          <p:cNvSpPr/>
          <p:nvPr/>
        </p:nvSpPr>
        <p:spPr>
          <a:xfrm>
            <a:off x="1874520" y="3383279"/>
            <a:ext cx="192024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8C3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ext 24"/>
          <p:cNvSpPr txBox="1"/>
          <p:nvPr/>
        </p:nvSpPr>
        <p:spPr>
          <a:xfrm>
            <a:off x="1920240" y="3415791"/>
            <a:ext cx="18288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r>
              <a:t>🧠</a:t>
            </a:r>
          </a:p>
        </p:txBody>
      </p:sp>
      <p:sp>
        <p:nvSpPr>
          <p:cNvPr id="341" name="Text 25"/>
          <p:cNvSpPr txBox="1"/>
          <p:nvPr/>
        </p:nvSpPr>
        <p:spPr>
          <a:xfrm>
            <a:off x="1920240" y="3817664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OpenAI Chat Model</a:t>
            </a:r>
          </a:p>
        </p:txBody>
      </p:sp>
      <p:sp>
        <p:nvSpPr>
          <p:cNvPr id="342" name="Text 26"/>
          <p:cNvSpPr txBox="1"/>
          <p:nvPr/>
        </p:nvSpPr>
        <p:spPr>
          <a:xfrm>
            <a:off x="1965960" y="4067459"/>
            <a:ext cx="173736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r>
              <a:t>gpt-5-mini</a:t>
            </a:r>
          </a:p>
        </p:txBody>
      </p:sp>
      <p:sp>
        <p:nvSpPr>
          <p:cNvPr id="343" name="Shape 27"/>
          <p:cNvSpPr/>
          <p:nvPr/>
        </p:nvSpPr>
        <p:spPr>
          <a:xfrm>
            <a:off x="3977640" y="3383279"/>
            <a:ext cx="192024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4" name="Text 28"/>
          <p:cNvSpPr txBox="1"/>
          <p:nvPr/>
        </p:nvSpPr>
        <p:spPr>
          <a:xfrm>
            <a:off x="4023360" y="3415791"/>
            <a:ext cx="18288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r>
              <a:t>💬</a:t>
            </a:r>
          </a:p>
        </p:txBody>
      </p:sp>
      <p:sp>
        <p:nvSpPr>
          <p:cNvPr id="345" name="Text 29"/>
          <p:cNvSpPr txBox="1"/>
          <p:nvPr/>
        </p:nvSpPr>
        <p:spPr>
          <a:xfrm>
            <a:off x="4023360" y="3817664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Simple Memory</a:t>
            </a:r>
          </a:p>
        </p:txBody>
      </p:sp>
      <p:sp>
        <p:nvSpPr>
          <p:cNvPr id="346" name="Text 30"/>
          <p:cNvSpPr txBox="1"/>
          <p:nvPr/>
        </p:nvSpPr>
        <p:spPr>
          <a:xfrm>
            <a:off x="4069079" y="4067459"/>
            <a:ext cx="173736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r>
              <a:t>1 sesión por usuario Telegram</a:t>
            </a:r>
          </a:p>
        </p:txBody>
      </p:sp>
      <p:sp>
        <p:nvSpPr>
          <p:cNvPr id="347" name="Shape 31"/>
          <p:cNvSpPr/>
          <p:nvPr/>
        </p:nvSpPr>
        <p:spPr>
          <a:xfrm>
            <a:off x="6080759" y="3383279"/>
            <a:ext cx="192024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3A6B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Text 32"/>
          <p:cNvSpPr txBox="1"/>
          <p:nvPr/>
        </p:nvSpPr>
        <p:spPr>
          <a:xfrm>
            <a:off x="6126479" y="3415791"/>
            <a:ext cx="18288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r>
              <a:t>🗄</a:t>
            </a:r>
          </a:p>
        </p:txBody>
      </p:sp>
      <p:sp>
        <p:nvSpPr>
          <p:cNvPr id="349" name="Text 33"/>
          <p:cNvSpPr txBox="1"/>
          <p:nvPr/>
        </p:nvSpPr>
        <p:spPr>
          <a:xfrm>
            <a:off x="6126479" y="3817664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2302A"/>
                </a:solidFill>
              </a:defRPr>
            </a:lvl1pPr>
          </a:lstStyle>
          <a:p>
            <a:r>
              <a:t>execute_query</a:t>
            </a:r>
          </a:p>
        </p:txBody>
      </p:sp>
      <p:sp>
        <p:nvSpPr>
          <p:cNvPr id="350" name="Text 34"/>
          <p:cNvSpPr txBox="1"/>
          <p:nvPr/>
        </p:nvSpPr>
        <p:spPr>
          <a:xfrm>
            <a:off x="6172200" y="4067459"/>
            <a:ext cx="173736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r>
              <a:t>tool MySQL — SELECT sobre dataset_fao</a:t>
            </a:r>
          </a:p>
        </p:txBody>
      </p:sp>
      <p:sp>
        <p:nvSpPr>
          <p:cNvPr id="351" name="Text 35"/>
          <p:cNvSpPr txBox="1"/>
          <p:nvPr/>
        </p:nvSpPr>
        <p:spPr>
          <a:xfrm>
            <a:off x="667511" y="4495721"/>
            <a:ext cx="53949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50">
                <a:solidFill>
                  <a:srgbClr val="1F9BD1"/>
                </a:solidFill>
              </a:defRPr>
            </a:lvl1pPr>
          </a:lstStyle>
          <a:p>
            <a:r>
              <a:t>EJEMPLO DE CONVERSACIÓN</a:t>
            </a:r>
          </a:p>
        </p:txBody>
      </p:sp>
      <p:sp>
        <p:nvSpPr>
          <p:cNvPr id="352" name="Shape 36"/>
          <p:cNvSpPr/>
          <p:nvPr/>
        </p:nvSpPr>
        <p:spPr>
          <a:xfrm>
            <a:off x="621791" y="4773167"/>
            <a:ext cx="5532122" cy="1810513"/>
          </a:xfrm>
          <a:prstGeom prst="roundRect">
            <a:avLst>
              <a:gd name="adj" fmla="val 6061"/>
            </a:avLst>
          </a:prstGeom>
          <a:solidFill>
            <a:srgbClr val="E7F3FA"/>
          </a:solidFill>
          <a:ln w="12700">
            <a:solidFill>
              <a:srgbClr val="BFE0E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3" name="Shape 37"/>
          <p:cNvSpPr/>
          <p:nvPr/>
        </p:nvSpPr>
        <p:spPr>
          <a:xfrm>
            <a:off x="841247" y="4937759"/>
            <a:ext cx="3931922" cy="457201"/>
          </a:xfrm>
          <a:prstGeom prst="roundRect">
            <a:avLst>
              <a:gd name="adj" fmla="val 30000"/>
            </a:avLst>
          </a:prstGeom>
          <a:solidFill>
            <a:srgbClr val="1F9BD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4" name="Text 38"/>
          <p:cNvSpPr txBox="1"/>
          <p:nvPr/>
        </p:nvSpPr>
        <p:spPr>
          <a:xfrm>
            <a:off x="1005839" y="5063403"/>
            <a:ext cx="36118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r>
              <a:t>¿Cuántas vacas lecheras había en Asia en 2023?</a:t>
            </a:r>
          </a:p>
        </p:txBody>
      </p:sp>
      <p:sp>
        <p:nvSpPr>
          <p:cNvPr id="355" name="Shape 39"/>
          <p:cNvSpPr/>
          <p:nvPr/>
        </p:nvSpPr>
        <p:spPr>
          <a:xfrm>
            <a:off x="1463039" y="5486400"/>
            <a:ext cx="4480561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0E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6" name="Text 40"/>
          <p:cNvSpPr txBox="1"/>
          <p:nvPr/>
        </p:nvSpPr>
        <p:spPr>
          <a:xfrm>
            <a:off x="1645919" y="5712355"/>
            <a:ext cx="4114801" cy="508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B2E38"/>
                </a:solidFill>
              </a:defRPr>
            </a:lvl1pPr>
          </a:lstStyle>
          <a:p>
            <a:r>
              <a:t>Según los datos de FAOSTAT, en 2023 Asia registraba del orden de 150 millones de cabezas de vacas lecheras (dato oficial). ¿Quieres que lo compare con otro continente o año?</a:t>
            </a:r>
          </a:p>
        </p:txBody>
      </p:sp>
      <p:sp>
        <p:nvSpPr>
          <p:cNvPr id="357" name="Shape 41"/>
          <p:cNvSpPr/>
          <p:nvPr/>
        </p:nvSpPr>
        <p:spPr>
          <a:xfrm>
            <a:off x="6355079" y="4480559"/>
            <a:ext cx="5212081" cy="2103121"/>
          </a:xfrm>
          <a:prstGeom prst="roundRect">
            <a:avLst>
              <a:gd name="adj" fmla="val 4348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8" name="Text 42"/>
          <p:cNvSpPr txBox="1"/>
          <p:nvPr/>
        </p:nvSpPr>
        <p:spPr>
          <a:xfrm>
            <a:off x="6629400" y="4709204"/>
            <a:ext cx="46634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b="1" spc="30">
                <a:solidFill>
                  <a:srgbClr val="D98C3F"/>
                </a:solidFill>
              </a:defRPr>
            </a:lvl1pPr>
          </a:lstStyle>
          <a:p>
            <a:r>
              <a:t>QUÉ DEMUESTRA — Y EN QUÉ SE DIFERENCIA DEL OTRO WORKFLOW</a:t>
            </a:r>
          </a:p>
        </p:txBody>
      </p:sp>
      <p:sp>
        <p:nvSpPr>
          <p:cNvPr id="359" name="Text 43"/>
          <p:cNvSpPr txBox="1"/>
          <p:nvPr/>
        </p:nvSpPr>
        <p:spPr>
          <a:xfrm>
            <a:off x="6629400" y="5190666"/>
            <a:ext cx="137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60" name="Text 44"/>
          <p:cNvSpPr txBox="1"/>
          <p:nvPr/>
        </p:nvSpPr>
        <p:spPr>
          <a:xfrm>
            <a:off x="6858000" y="5122720"/>
            <a:ext cx="4526280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El SQL no está escrito a mano: lo genera el LLM en cada turno según lo que se le pregunte.</a:t>
            </a:r>
          </a:p>
        </p:txBody>
      </p:sp>
      <p:sp>
        <p:nvSpPr>
          <p:cNvPr id="361" name="Text 45"/>
          <p:cNvSpPr txBox="1"/>
          <p:nvPr/>
        </p:nvSpPr>
        <p:spPr>
          <a:xfrm>
            <a:off x="6629400" y="5702730"/>
            <a:ext cx="137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62" name="Text 46"/>
          <p:cNvSpPr txBox="1"/>
          <p:nvPr/>
        </p:nvSpPr>
        <p:spPr>
          <a:xfrm>
            <a:off x="6858000" y="5724188"/>
            <a:ext cx="452628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Mantiene contexto de conversación por usuario (memoria por chatId de Telegram).</a:t>
            </a:r>
          </a:p>
        </p:txBody>
      </p:sp>
      <p:sp>
        <p:nvSpPr>
          <p:cNvPr id="363" name="Text 47"/>
          <p:cNvSpPr txBox="1"/>
          <p:nvPr/>
        </p:nvSpPr>
        <p:spPr>
          <a:xfrm>
            <a:off x="6629400" y="6214793"/>
            <a:ext cx="137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r>
              <a:t>—</a:t>
            </a:r>
          </a:p>
        </p:txBody>
      </p:sp>
      <p:sp>
        <p:nvSpPr>
          <p:cNvPr id="364" name="Text 48"/>
          <p:cNvSpPr txBox="1"/>
          <p:nvPr/>
        </p:nvSpPr>
        <p:spPr>
          <a:xfrm>
            <a:off x="6858000" y="6146848"/>
            <a:ext cx="4526280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r>
              <a:t>El system prompt fija barandillas: solo SELECT, sin mezclar unidades, sin inventar datos.</a:t>
            </a:r>
          </a:p>
        </p:txBody>
      </p:sp>
      <p:sp>
        <p:nvSpPr>
          <p:cNvPr id="365" name="Text 50"/>
          <p:cNvSpPr txBox="1"/>
          <p:nvPr/>
        </p:nvSpPr>
        <p:spPr>
          <a:xfrm>
            <a:off x="667511" y="6444147"/>
            <a:ext cx="108813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i="1">
                <a:solidFill>
                  <a:srgbClr val="5B6B62"/>
                </a:solidFill>
              </a:defRPr>
            </a:lvl1pPr>
          </a:lstStyle>
          <a:p>
            <a:r>
              <a:t>Mismo bot de Telegram, dos automatizaciones: la anterior empuja un resumen fijo; esta responde bajo demanda a cualquier pregunta sobre el dataset.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Image 0" descr="Image 0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64037" y="174593"/>
            <a:ext cx="2006960" cy="2006960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Text 1"/>
          <p:cNvSpPr txBox="1"/>
          <p:nvPr/>
        </p:nvSpPr>
        <p:spPr>
          <a:xfrm>
            <a:off x="868680" y="2767330"/>
            <a:ext cx="8138160" cy="86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5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¡Muchas gracias!</a:t>
            </a:r>
          </a:p>
        </p:txBody>
      </p:sp>
      <p:sp>
        <p:nvSpPr>
          <p:cNvPr id="370" name="Text 2"/>
          <p:cNvSpPr txBox="1"/>
          <p:nvPr/>
        </p:nvSpPr>
        <p:spPr>
          <a:xfrm>
            <a:off x="886967" y="378162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CFE0D4"/>
                </a:solidFill>
              </a:defRPr>
            </a:lvl1pPr>
          </a:lstStyle>
          <a:p>
            <a:r>
              <a:t>Proyecto — Emisiones del sector ganadero mundial</a:t>
            </a:r>
          </a:p>
        </p:txBody>
      </p:sp>
      <p:pic>
        <p:nvPicPr>
          <p:cNvPr id="371" name="images.jpeg" descr="imag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176" y="329971"/>
            <a:ext cx="4096994" cy="27472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1876</Words>
  <Application>Microsoft Office PowerPoint</Application>
  <PresentationFormat>Panorámica</PresentationFormat>
  <Paragraphs>219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XTALENTO 104</cp:lastModifiedBy>
  <cp:revision>2</cp:revision>
  <dcterms:modified xsi:type="dcterms:W3CDTF">2026-07-27T12:41:52Z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2026-07-27T12:40:31Z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905c4f3a-e114-4642-ba2b-991b8103c5b4</vt:lpwstr>
  </property>
  <property fmtid="{D5CDD505-2E9C-101B-9397-08002B2CF9AE}" pid="7" name="MSIP_Label_defa4170-0d19-0005-0004-bc88714345d2_ActionId">
    <vt:lpwstr>5d17d738-f42b-48d6-ab99-2b4709ce82d0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